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4" r:id="rId5"/>
    <p:sldId id="300" r:id="rId6"/>
    <p:sldId id="318" r:id="rId7"/>
    <p:sldId id="316" r:id="rId8"/>
    <p:sldId id="313" r:id="rId9"/>
    <p:sldId id="320" r:id="rId10"/>
    <p:sldId id="322" r:id="rId11"/>
    <p:sldId id="323" r:id="rId12"/>
    <p:sldId id="324" r:id="rId13"/>
    <p:sldId id="298" r:id="rId14"/>
    <p:sldId id="3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48" userDrawn="1">
          <p15:clr>
            <a:srgbClr val="A4A3A4"/>
          </p15:clr>
        </p15:guide>
        <p15:guide id="2" pos="2664" userDrawn="1">
          <p15:clr>
            <a:srgbClr val="A4A3A4"/>
          </p15:clr>
        </p15:guide>
        <p15:guide id="3" orient="horz" pos="2664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AD7C"/>
    <a:srgbClr val="ECF4F0"/>
    <a:srgbClr val="2E7D5E"/>
    <a:srgbClr val="000000"/>
    <a:srgbClr val="00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8" autoAdjust="0"/>
    <p:restoredTop sz="93987" autoAdjust="0"/>
  </p:normalViewPr>
  <p:slideViewPr>
    <p:cSldViewPr snapToGrid="0">
      <p:cViewPr varScale="1">
        <p:scale>
          <a:sx n="104" d="100"/>
          <a:sy n="104" d="100"/>
        </p:scale>
        <p:origin x="696" y="102"/>
      </p:cViewPr>
      <p:guideLst>
        <p:guide orient="horz" pos="3648"/>
        <p:guide pos="2664"/>
        <p:guide orient="horz" pos="2664"/>
        <p:guide orient="horz" pos="32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D32CE2-6C64-40A5-9DAB-DD3946A432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569BD-8C5B-4110-9E60-C359DDF561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7E1B8-528F-4D87-8EBD-B843BAE2C861}" type="datetimeFigureOut">
              <a:rPr lang="en-US" smtClean="0"/>
              <a:t>4/6/2025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05E23-8F29-4628-B4F0-7CBCB7658F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3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E576D-777F-42E1-9739-7FD89F404092}" type="datetimeFigureOut">
              <a:rPr lang="en-US" smtClean="0"/>
              <a:t>4/6/2025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F1A11-BB96-443E-B274-982C61AA7E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6C2E115-5267-49A0-A702-59745AC649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4479580-C1B1-4B70-875C-70152944F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4355" y="4687178"/>
            <a:ext cx="159851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323CA5D-7F88-4E2C-B2E1-D03E01072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172" y="17266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DFF095-F8DE-447E-A83F-BD55BD03BE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3189" y="71740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FA2755C1-A0B6-448A-BE5D-4B492BB7BB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693" y="285863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3357-BDC3-43CE-89C0-05F5AB973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3216" y="3667946"/>
            <a:ext cx="9285382" cy="1277857"/>
          </a:xfrm>
        </p:spPr>
        <p:txBody>
          <a:bodyPr anchor="ctr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FD7F6-12F1-44A8-B26F-82773993F1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0418" y="5325276"/>
            <a:ext cx="3677297" cy="682094"/>
          </a:xfrm>
        </p:spPr>
        <p:txBody>
          <a:bodyPr anchor="ctr"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5B50AA-4BAC-4997-B444-E281DECD0DB4}"/>
              </a:ext>
            </a:extLst>
          </p:cNvPr>
          <p:cNvCxnSpPr>
            <a:cxnSpLocks/>
          </p:cNvCxnSpPr>
          <p:nvPr userDrawn="1"/>
        </p:nvCxnSpPr>
        <p:spPr>
          <a:xfrm>
            <a:off x="4579559" y="5744231"/>
            <a:ext cx="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DEC412-0EF3-4D93-AF25-A2D2F5A5093A}"/>
              </a:ext>
            </a:extLst>
          </p:cNvPr>
          <p:cNvCxnSpPr>
            <a:cxnSpLocks/>
          </p:cNvCxnSpPr>
          <p:nvPr userDrawn="1"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2836A9-D1F4-4562-B95F-B7BF8F4713B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3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A9869E4-27A3-4A22-92EA-ECD5099EC492}"/>
              </a:ext>
            </a:extLst>
          </p:cNvPr>
          <p:cNvSpPr/>
          <p:nvPr userDrawn="1"/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  <a:gd name="connsiteX17" fmla="*/ 1341004 w 6175114"/>
              <a:gd name="connsiteY1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78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83479E-F517-4F8A-9382-5B73D75104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4186" y="2903538"/>
            <a:ext cx="3104198" cy="345475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4141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41894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2223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9601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0305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CB12E29-CEAA-4595-B65C-5BE0B527CD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33811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9A5A9E4A-8FA1-4B1A-86F3-162A0ED25F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3766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656AF90-4012-4B9E-81A7-2796EE40AE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1519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34BCA93-D058-4D61-BAE5-2671E15723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41848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BE8C5BE-9959-40C7-83C2-546EBFBC1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9226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FC20880-2D17-4854-A424-DED10A8A8D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9930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00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50921" y="2145859"/>
            <a:ext cx="5042568" cy="345473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0922" y="2491335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419184"/>
            <a:ext cx="2362200" cy="1110286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0921" y="3198051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0922" y="3543527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0921" y="5302434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50922" y="5647910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E158F00-CB9F-4C14-B6F0-47E4F70191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0921" y="4250243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07878182-5985-41C8-B69F-9DB9EC1313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0922" y="4595719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8873A5-9160-4B79-B9CB-CBE583030B0E}"/>
              </a:ext>
            </a:extLst>
          </p:cNvPr>
          <p:cNvCxnSpPr>
            <a:cxnSpLocks/>
          </p:cNvCxnSpPr>
          <p:nvPr userDrawn="1"/>
        </p:nvCxnSpPr>
        <p:spPr>
          <a:xfrm>
            <a:off x="3766456" y="-16561"/>
            <a:ext cx="0" cy="687456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D9D5EA-266D-4541-BA3F-22BC31AAB6AA}"/>
              </a:ext>
            </a:extLst>
          </p:cNvPr>
          <p:cNvCxnSpPr/>
          <p:nvPr userDrawn="1"/>
        </p:nvCxnSpPr>
        <p:spPr>
          <a:xfrm>
            <a:off x="-1" y="1676400"/>
            <a:ext cx="1219199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88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,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2B5F8DD-B338-48F8-9DF4-E1A31DFCB5B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" y="0"/>
            <a:ext cx="6694955" cy="6858000"/>
          </a:xfrm>
          <a:custGeom>
            <a:avLst/>
            <a:gdLst>
              <a:gd name="connsiteX0" fmla="*/ 0 w 6694955"/>
              <a:gd name="connsiteY0" fmla="*/ 0 h 6858000"/>
              <a:gd name="connsiteX1" fmla="*/ 6694955 w 6694955"/>
              <a:gd name="connsiteY1" fmla="*/ 0 h 6858000"/>
              <a:gd name="connsiteX2" fmla="*/ 2589160 w 6694955"/>
              <a:gd name="connsiteY2" fmla="*/ 6857732 h 6858000"/>
              <a:gd name="connsiteX3" fmla="*/ 0 w 66949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4955" h="6858000">
                <a:moveTo>
                  <a:pt x="0" y="0"/>
                </a:moveTo>
                <a:lnTo>
                  <a:pt x="6694955" y="0"/>
                </a:lnTo>
                <a:lnTo>
                  <a:pt x="2589160" y="6857732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4768" y="2069658"/>
            <a:ext cx="5042568" cy="345476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4768" y="241513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633" y="690928"/>
            <a:ext cx="4501910" cy="732282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00006" y="358763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0007" y="393311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98264" y="510561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98264" y="545109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4273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F5EB3F05-D570-4C10-88F4-F6BC15CF1F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700"/>
            <a:ext cx="7080595" cy="6870700"/>
          </a:xfrm>
          <a:custGeom>
            <a:avLst/>
            <a:gdLst>
              <a:gd name="connsiteX0" fmla="*/ 0 w 7080595"/>
              <a:gd name="connsiteY0" fmla="*/ 0 h 6870700"/>
              <a:gd name="connsiteX1" fmla="*/ 7080595 w 7080595"/>
              <a:gd name="connsiteY1" fmla="*/ 0 h 6870700"/>
              <a:gd name="connsiteX2" fmla="*/ 7080595 w 7080595"/>
              <a:gd name="connsiteY2" fmla="*/ 1883211 h 6870700"/>
              <a:gd name="connsiteX3" fmla="*/ 4515477 w 7080595"/>
              <a:gd name="connsiteY3" fmla="*/ 1883211 h 6870700"/>
              <a:gd name="connsiteX4" fmla="*/ 4515477 w 7080595"/>
              <a:gd name="connsiteY4" fmla="*/ 6870700 h 6870700"/>
              <a:gd name="connsiteX5" fmla="*/ 2269215 w 7080595"/>
              <a:gd name="connsiteY5" fmla="*/ 6870700 h 6870700"/>
              <a:gd name="connsiteX6" fmla="*/ 2269215 w 7080595"/>
              <a:gd name="connsiteY6" fmla="*/ 1883211 h 6870700"/>
              <a:gd name="connsiteX7" fmla="*/ 0 w 7080595"/>
              <a:gd name="connsiteY7" fmla="*/ 1883211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80595" h="6870700">
                <a:moveTo>
                  <a:pt x="0" y="0"/>
                </a:moveTo>
                <a:lnTo>
                  <a:pt x="7080595" y="0"/>
                </a:lnTo>
                <a:lnTo>
                  <a:pt x="7080595" y="1883211"/>
                </a:lnTo>
                <a:lnTo>
                  <a:pt x="4515477" y="1883211"/>
                </a:lnTo>
                <a:lnTo>
                  <a:pt x="4515477" y="6870700"/>
                </a:lnTo>
                <a:lnTo>
                  <a:pt x="2269215" y="6870700"/>
                </a:lnTo>
                <a:lnTo>
                  <a:pt x="2269215" y="1883211"/>
                </a:lnTo>
                <a:lnTo>
                  <a:pt x="0" y="18832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FEA6F9E-1C21-4644-8E2A-AD5673EE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799" y="2318657"/>
            <a:ext cx="4203247" cy="1440996"/>
          </a:xfrm>
        </p:spPr>
        <p:txBody>
          <a:bodyPr lIns="0" anchor="b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1D1C8A-E829-4284-AB95-2DD0C7BA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4147457"/>
            <a:ext cx="4203247" cy="153216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C539CF-E024-420D-BFED-5F2212DA8CE3}"/>
              </a:ext>
            </a:extLst>
          </p:cNvPr>
          <p:cNvCxnSpPr>
            <a:cxnSpLocks/>
          </p:cNvCxnSpPr>
          <p:nvPr userDrawn="1"/>
        </p:nvCxnSpPr>
        <p:spPr>
          <a:xfrm>
            <a:off x="-1" y="4376058"/>
            <a:ext cx="70539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9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A5404BE-7C49-4381-8FC0-95A496CFB4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B922914-E333-400C-A083-27A44BE79C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0085" y="4546575"/>
            <a:ext cx="1500624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86A9052-3614-4622-A421-1D20E5B311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77374" y="275039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3ADE3E-3D48-4C5D-9FE4-2D7A26315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380" y="903514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B49215A-DBBC-4C0F-A6A8-DFB2D5464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77374" y="8970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BB770-F6A6-44A3-BCE1-BCCCC1E8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3" y="5201920"/>
            <a:ext cx="5747657" cy="992505"/>
          </a:xfrm>
        </p:spPr>
        <p:txBody>
          <a:bodyPr anchor="ctr">
            <a:normAutofit/>
          </a:bodyPr>
          <a:lstStyle>
            <a:lvl1pPr>
              <a:defRPr sz="4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A6A04B8C-D941-483E-B669-7436C535C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2"/>
            <a:ext cx="922101" cy="244589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A6DC6C6-E9EB-405C-A68E-EE8EEBBCA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5311" y="1857400"/>
            <a:ext cx="691575" cy="8866"/>
          </a:xfrm>
          <a:custGeom>
            <a:avLst/>
            <a:gdLst>
              <a:gd name="connsiteX0" fmla="*/ 691576 w 691575"/>
              <a:gd name="connsiteY0" fmla="*/ 0 h 8866"/>
              <a:gd name="connsiteX1" fmla="*/ 0 w 691575"/>
              <a:gd name="connsiteY1" fmla="*/ 0 h 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1575" h="8866">
                <a:moveTo>
                  <a:pt x="691576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028B5C16-2909-487D-BE4D-A794F3BA7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1"/>
            <a:ext cx="922101" cy="257362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16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orient="horz" pos="1584" userDrawn="1">
          <p15:clr>
            <a:srgbClr val="FBAE40"/>
          </p15:clr>
        </p15:guide>
        <p15:guide id="3" orient="horz" pos="27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9EDF1B-BFF2-495C-B3B8-4EE6F48140F0}"/>
              </a:ext>
            </a:extLst>
          </p:cNvPr>
          <p:cNvSpPr/>
          <p:nvPr userDrawn="1"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F2809-C0D4-4624-9BF4-7A5A02FC6504}"/>
              </a:ext>
            </a:extLst>
          </p:cNvPr>
          <p:cNvSpPr/>
          <p:nvPr userDrawn="1"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8AFF1-A7FF-4F75-9E57-C1827806B34E}"/>
              </a:ext>
            </a:extLst>
          </p:cNvPr>
          <p:cNvSpPr/>
          <p:nvPr userDrawn="1"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4142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Title 1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142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A3FE14-6E13-47C9-A512-83A96F3D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83A9ED-5F19-4646-ADCE-C829C97154DC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187F4BE-3AD3-4857-B0A9-A9285E52D81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975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2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F81158B-DA52-484D-8105-92B77E4DC4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06975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9AFDDE4E-007E-431B-937C-1B26959515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2200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3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B096111-A95B-402E-B431-43D852C9E2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2200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7EDA1598-95B9-4907-B9B9-46A0B9ACC8D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63AF9C34-CC92-4EDC-9D5F-1FABCEB874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AEA54FD-376F-4285-9684-F9DFDE0B472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36775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FBFD526-F385-422D-A7A7-BCE72D8141B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3"/>
            <a:ext cx="5288281" cy="6857999"/>
          </a:xfrm>
          <a:custGeom>
            <a:avLst/>
            <a:gdLst>
              <a:gd name="connsiteX0" fmla="*/ 0 w 5288281"/>
              <a:gd name="connsiteY0" fmla="*/ 0 h 6857999"/>
              <a:gd name="connsiteX1" fmla="*/ 1707378 w 5288281"/>
              <a:gd name="connsiteY1" fmla="*/ 0 h 6857999"/>
              <a:gd name="connsiteX2" fmla="*/ 1707378 w 5288281"/>
              <a:gd name="connsiteY2" fmla="*/ 1511096 h 6857999"/>
              <a:gd name="connsiteX3" fmla="*/ 5288281 w 5288281"/>
              <a:gd name="connsiteY3" fmla="*/ 1511096 h 6857999"/>
              <a:gd name="connsiteX4" fmla="*/ 5288281 w 5288281"/>
              <a:gd name="connsiteY4" fmla="*/ 3253159 h 6857999"/>
              <a:gd name="connsiteX5" fmla="*/ 1707378 w 5288281"/>
              <a:gd name="connsiteY5" fmla="*/ 3253159 h 6857999"/>
              <a:gd name="connsiteX6" fmla="*/ 1707378 w 5288281"/>
              <a:gd name="connsiteY6" fmla="*/ 5115860 h 6857999"/>
              <a:gd name="connsiteX7" fmla="*/ 5272034 w 5288281"/>
              <a:gd name="connsiteY7" fmla="*/ 5115860 h 6857999"/>
              <a:gd name="connsiteX8" fmla="*/ 5272034 w 5288281"/>
              <a:gd name="connsiteY8" fmla="*/ 6857999 h 6857999"/>
              <a:gd name="connsiteX9" fmla="*/ 0 w 5288281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88281" h="6857999">
                <a:moveTo>
                  <a:pt x="0" y="0"/>
                </a:moveTo>
                <a:lnTo>
                  <a:pt x="1707378" y="0"/>
                </a:lnTo>
                <a:lnTo>
                  <a:pt x="1707378" y="1511096"/>
                </a:lnTo>
                <a:lnTo>
                  <a:pt x="5288281" y="1511096"/>
                </a:lnTo>
                <a:lnTo>
                  <a:pt x="5288281" y="3253159"/>
                </a:lnTo>
                <a:lnTo>
                  <a:pt x="1707378" y="3253159"/>
                </a:lnTo>
                <a:lnTo>
                  <a:pt x="1707378" y="5115860"/>
                </a:lnTo>
                <a:lnTo>
                  <a:pt x="5272034" y="5115860"/>
                </a:lnTo>
                <a:lnTo>
                  <a:pt x="5272034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B2DB8B03-EE62-48FF-8583-59DFBBE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</p:spPr>
        <p:txBody>
          <a:bodyPr lIns="0" anchor="t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EAF98237-032C-4FA5-B76D-C29FB5F6FF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66082" y="3009550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4353DAE-0553-4AB4-8929-C4F0C1424E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66082" y="4017086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651CB4B-B007-4E99-9371-20279E8FF7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66082" y="4957948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C0437717-0C1B-4589-AEF7-D8E934F411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3720" y="2816574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E01B6B4-5A67-4429-A312-A531EC3B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03720" y="3805802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1673722D-82CF-4D94-9D83-D95A8DE5AC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21" y="4795030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05767D4F-E20C-4F37-B411-A7F221B6A8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29106" y="3074238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BB90A96A-A614-41C0-9759-F6C15AE680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29106" y="4074889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983AE7FC-57B1-4AB3-8EAA-A85904DBBE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9106" y="5016921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8AECD175-60EB-459F-BA4C-8E4DE7BC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1/7/20XX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180FF4C-4A98-4E30-B414-026CEECA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9498BBC0-E864-44E0-8C60-D13DC062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290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3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500" y="6356350"/>
            <a:ext cx="8763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011F19-A2C9-4F67-A7F1-592B85FF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C8CFDC-095C-4312-A01D-7430D1FEAA6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603500"/>
            <a:ext cx="0" cy="42545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DE385DE-9334-4CED-AD7E-F63A320B0512}"/>
              </a:ext>
            </a:extLst>
          </p:cNvPr>
          <p:cNvSpPr/>
          <p:nvPr userDrawn="1"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11839B3-0E6A-4750-8862-3A55B0FEF98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1" y="2413000"/>
            <a:ext cx="4114795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72DA832-BD58-447B-A20E-EA3A7F4EAFF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39003" y="2413000"/>
            <a:ext cx="4114797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64EBCEB5-BD23-4BD0-BB31-DF6A631D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2" y="6356350"/>
            <a:ext cx="303846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3348445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7335" y="182200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335" y="216748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80795" y="333998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80795" y="368546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1710" y="485796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1710" y="520344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4844B5-3E4A-4209-AD6C-31EB9B57D62E}"/>
              </a:ext>
            </a:extLst>
          </p:cNvPr>
          <p:cNvCxnSpPr>
            <a:cxnSpLocks/>
          </p:cNvCxnSpPr>
          <p:nvPr userDrawn="1"/>
        </p:nvCxnSpPr>
        <p:spPr>
          <a:xfrm flipV="1">
            <a:off x="4369950" y="805543"/>
            <a:ext cx="3648352" cy="6052189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1519057B-4248-4880-A89E-5DCBBB15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01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7A5A-4225-417D-92C6-1C9A16E3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BA8EE-BF3B-4E61-9241-4BC605B3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40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1C53D-85FC-41D8-9A69-F4734072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142" y="2046288"/>
            <a:ext cx="554445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446CE-03E2-409B-B8EF-7C188C1E6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4142" y="3162300"/>
            <a:ext cx="5544458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4FC59-2ADF-4A3F-BBF9-07FF02220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40588" y="2046288"/>
            <a:ext cx="4114800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F889E-7C42-4396-AEE8-7B337AFAF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0588" y="3162300"/>
            <a:ext cx="4114800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D57D1-26E8-4CE2-AAA6-482AA55F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4918E-7FEA-4406-B5C4-9CA22363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5B8D0-7EB3-42DC-AD4D-51B34268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F7DCBA-487E-4B33-BB90-0DADF952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79E440-088D-4C5E-AE96-53292A60A147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251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850572"/>
            <a:ext cx="10134601" cy="4093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6206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7B19AA7-3B63-43B8-BE54-6F7F01B262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04817" y="2233881"/>
            <a:ext cx="3387182" cy="2390238"/>
          </a:xfrm>
          <a:custGeom>
            <a:avLst/>
            <a:gdLst>
              <a:gd name="connsiteX0" fmla="*/ 1033243 w 3387182"/>
              <a:gd name="connsiteY0" fmla="*/ 0 h 2390238"/>
              <a:gd name="connsiteX1" fmla="*/ 3387182 w 3387182"/>
              <a:gd name="connsiteY1" fmla="*/ 0 h 2390238"/>
              <a:gd name="connsiteX2" fmla="*/ 3378264 w 3387182"/>
              <a:gd name="connsiteY2" fmla="*/ 2390238 h 2390238"/>
              <a:gd name="connsiteX3" fmla="*/ 0 w 3387182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7182" h="2390238">
                <a:moveTo>
                  <a:pt x="1033243" y="0"/>
                </a:moveTo>
                <a:lnTo>
                  <a:pt x="3387182" y="0"/>
                </a:lnTo>
                <a:lnTo>
                  <a:pt x="3378264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55057A-5AE4-4EAE-8E1E-189462BF31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0016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4433358-37F4-4631-87BD-71A4E90A4C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75215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663A4BE-7DD2-4FAC-B36C-6A1DAB0740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233881"/>
            <a:ext cx="3378263" cy="2390238"/>
          </a:xfrm>
          <a:custGeom>
            <a:avLst/>
            <a:gdLst>
              <a:gd name="connsiteX0" fmla="*/ 0 w 3378263"/>
              <a:gd name="connsiteY0" fmla="*/ 0 h 2390238"/>
              <a:gd name="connsiteX1" fmla="*/ 3378263 w 3378263"/>
              <a:gd name="connsiteY1" fmla="*/ 0 h 2390238"/>
              <a:gd name="connsiteX2" fmla="*/ 2345020 w 3378263"/>
              <a:gd name="connsiteY2" fmla="*/ 2390238 h 2390238"/>
              <a:gd name="connsiteX3" fmla="*/ 0 w 3378263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263" h="2390238">
                <a:moveTo>
                  <a:pt x="0" y="0"/>
                </a:moveTo>
                <a:lnTo>
                  <a:pt x="3378263" y="0"/>
                </a:lnTo>
                <a:lnTo>
                  <a:pt x="2345020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CEC8B31E-90EA-47DA-88C8-7210550FEC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4933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B29C3B6-1467-4DB9-A2AE-6C8254889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4932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1476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1475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E6695F4-4900-48B5-9D68-486774B8D7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77835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FF214FA8-F7B7-40D8-A97C-52E0B0BDE1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7834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56B0AF9E-C16A-4170-A149-1E47AC0D81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00181" y="5057897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B1CB5369-F6CE-41B6-ACE8-9FA5781CB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00180" y="5403373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41151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88E0AC7A-AA85-427E-8B83-AEEF229EDA4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383802" y="3121794"/>
            <a:ext cx="1808198" cy="1097726"/>
          </a:xfrm>
          <a:custGeom>
            <a:avLst/>
            <a:gdLst>
              <a:gd name="connsiteX0" fmla="*/ 474569 w 1808198"/>
              <a:gd name="connsiteY0" fmla="*/ 0 h 1097726"/>
              <a:gd name="connsiteX1" fmla="*/ 1799279 w 1808198"/>
              <a:gd name="connsiteY1" fmla="*/ 0 h 1097726"/>
              <a:gd name="connsiteX2" fmla="*/ 1808198 w 1808198"/>
              <a:gd name="connsiteY2" fmla="*/ 1097726 h 1097726"/>
              <a:gd name="connsiteX3" fmla="*/ 0 w 1808198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198" h="1097726">
                <a:moveTo>
                  <a:pt x="474569" y="0"/>
                </a:moveTo>
                <a:lnTo>
                  <a:pt x="1799279" y="0"/>
                </a:lnTo>
                <a:lnTo>
                  <a:pt x="18081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6437AD1-FE22-40AE-8BB8-8B8B9C5770F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00427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97978D8E-FCD0-4E7C-BD0B-F2F47BA1B2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416963" y="3121794"/>
            <a:ext cx="1799279" cy="1097726"/>
          </a:xfrm>
          <a:custGeom>
            <a:avLst/>
            <a:gdLst>
              <a:gd name="connsiteX0" fmla="*/ 474570 w 1799279"/>
              <a:gd name="connsiteY0" fmla="*/ 0 h 1097726"/>
              <a:gd name="connsiteX1" fmla="*/ 1799279 w 1799279"/>
              <a:gd name="connsiteY1" fmla="*/ 0 h 1097726"/>
              <a:gd name="connsiteX2" fmla="*/ 132479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70" y="0"/>
                </a:moveTo>
                <a:lnTo>
                  <a:pt x="1799279" y="0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83197EDA-7F24-4C0A-B859-34173E066FC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33589" y="3121794"/>
            <a:ext cx="1799125" cy="1097726"/>
          </a:xfrm>
          <a:custGeom>
            <a:avLst/>
            <a:gdLst>
              <a:gd name="connsiteX0" fmla="*/ 474570 w 1799125"/>
              <a:gd name="connsiteY0" fmla="*/ 0 h 1097726"/>
              <a:gd name="connsiteX1" fmla="*/ 1799125 w 1799125"/>
              <a:gd name="connsiteY1" fmla="*/ 0 h 1097726"/>
              <a:gd name="connsiteX2" fmla="*/ 1799125 w 1799125"/>
              <a:gd name="connsiteY2" fmla="*/ 356 h 1097726"/>
              <a:gd name="connsiteX3" fmla="*/ 1324799 w 1799125"/>
              <a:gd name="connsiteY3" fmla="*/ 1097726 h 1097726"/>
              <a:gd name="connsiteX4" fmla="*/ 0 w 1799125"/>
              <a:gd name="connsiteY4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9125" h="1097726">
                <a:moveTo>
                  <a:pt x="474570" y="0"/>
                </a:moveTo>
                <a:lnTo>
                  <a:pt x="1799125" y="0"/>
                </a:lnTo>
                <a:lnTo>
                  <a:pt x="1799125" y="356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D5CFC424-FDBC-4BD5-B5FB-E2C7B5DE600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450214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2475369-85E0-474D-9454-6911B2BB54D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966838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231E13B-CD8C-48FC-A6DB-E87F08B4628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483375" y="3121794"/>
            <a:ext cx="1799279" cy="1097726"/>
          </a:xfrm>
          <a:custGeom>
            <a:avLst/>
            <a:gdLst>
              <a:gd name="connsiteX0" fmla="*/ 474569 w 1799279"/>
              <a:gd name="connsiteY0" fmla="*/ 0 h 1097726"/>
              <a:gd name="connsiteX1" fmla="*/ 1799279 w 1799279"/>
              <a:gd name="connsiteY1" fmla="*/ 0 h 1097726"/>
              <a:gd name="connsiteX2" fmla="*/ 1324798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69" y="0"/>
                </a:moveTo>
                <a:lnTo>
                  <a:pt x="1799279" y="0"/>
                </a:lnTo>
                <a:lnTo>
                  <a:pt x="13247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9A7D62AC-CCFA-44C3-98ED-F750B562B96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" y="3121794"/>
            <a:ext cx="1799279" cy="1097726"/>
          </a:xfrm>
          <a:custGeom>
            <a:avLst/>
            <a:gdLst>
              <a:gd name="connsiteX0" fmla="*/ 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2325820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9" y="2586626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id="{F3625817-ADC5-402C-BF70-E72E180EA94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0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8" name="Text Placeholder 18">
            <a:extLst>
              <a:ext uri="{FF2B5EF4-FFF2-40B4-BE49-F238E27FC236}">
                <a16:creationId xmlns:a16="http://schemas.microsoft.com/office/drawing/2014/main" id="{1CD742BF-928E-4F96-A707-0762F7415A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29005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F63CF451-68B6-4006-B393-3926AD5577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95597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18">
            <a:extLst>
              <a:ext uri="{FF2B5EF4-FFF2-40B4-BE49-F238E27FC236}">
                <a16:creationId xmlns:a16="http://schemas.microsoft.com/office/drawing/2014/main" id="{0812886F-184C-40A8-A729-8B4B4926879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95602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227745AB-F0A1-4D69-B3E7-1E05EC5A83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71508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2" name="Text Placeholder 18">
            <a:extLst>
              <a:ext uri="{FF2B5EF4-FFF2-40B4-BE49-F238E27FC236}">
                <a16:creationId xmlns:a16="http://schemas.microsoft.com/office/drawing/2014/main" id="{FA1D1660-FDA5-41B8-9EE3-ADA0E15F0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71513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5">
            <a:extLst>
              <a:ext uri="{FF2B5EF4-FFF2-40B4-BE49-F238E27FC236}">
                <a16:creationId xmlns:a16="http://schemas.microsoft.com/office/drawing/2014/main" id="{40B672B5-5EF2-428E-8952-03BB5F47FB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83375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18">
            <a:extLst>
              <a:ext uri="{FF2B5EF4-FFF2-40B4-BE49-F238E27FC236}">
                <a16:creationId xmlns:a16="http://schemas.microsoft.com/office/drawing/2014/main" id="{AAB3392A-4B63-483C-B97B-A962BA72959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3380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5">
            <a:extLst>
              <a:ext uri="{FF2B5EF4-FFF2-40B4-BE49-F238E27FC236}">
                <a16:creationId xmlns:a16="http://schemas.microsoft.com/office/drawing/2014/main" id="{52F154E0-81D0-4ED7-81F5-F2A41F6EE2E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57493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6" name="Text Placeholder 18">
            <a:extLst>
              <a:ext uri="{FF2B5EF4-FFF2-40B4-BE49-F238E27FC236}">
                <a16:creationId xmlns:a16="http://schemas.microsoft.com/office/drawing/2014/main" id="{D57D2666-5AA0-4552-8434-DE134549DA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57498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5">
            <a:extLst>
              <a:ext uri="{FF2B5EF4-FFF2-40B4-BE49-F238E27FC236}">
                <a16:creationId xmlns:a16="http://schemas.microsoft.com/office/drawing/2014/main" id="{7E6E0780-44C2-48C7-99F2-E711D9BFA85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416963" y="4502202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18">
            <a:extLst>
              <a:ext uri="{FF2B5EF4-FFF2-40B4-BE49-F238E27FC236}">
                <a16:creationId xmlns:a16="http://schemas.microsoft.com/office/drawing/2014/main" id="{41A5DBDC-E19D-4B74-863C-D63A78E493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16968" y="4763008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15">
            <a:extLst>
              <a:ext uri="{FF2B5EF4-FFF2-40B4-BE49-F238E27FC236}">
                <a16:creationId xmlns:a16="http://schemas.microsoft.com/office/drawing/2014/main" id="{EEFB1377-2783-49F1-A131-38F4B63B90C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76433" y="4527297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C188F315-95C8-490A-AB31-6B6D7A7A535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76438" y="4788103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51908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135F811-46C6-4574-99D7-6B90FE873BD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B03F056-6BD3-4D1E-B794-6796E05CC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D442E15-02E7-470A-B455-1641DC03E51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7AB804A3-DDE8-4F7C-AA96-94BD89866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D76E21-775F-4F86-8F17-E8258055D6D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290EB005-534F-4E5E-81D4-3795AF32C8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DDA664B-9E00-41E2-903A-87130EEDB2D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38183B6-48F8-4715-8596-BFC77AFE924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C6D44CB-DAE7-40C8-B7B5-3AC0F92E22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388CB94-B0AB-4513-9265-432FA36890D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2DB4D40-3550-49E6-AF64-41E7E499F4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F6056747-20EC-4D2B-8AD5-79902BC518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568700" y="4464453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18097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65E2A4-B306-4415-9D4B-9E9F98B043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08046" cy="6858000"/>
          </a:xfrm>
          <a:custGeom>
            <a:avLst/>
            <a:gdLst>
              <a:gd name="connsiteX0" fmla="*/ 0 w 6508046"/>
              <a:gd name="connsiteY0" fmla="*/ 0 h 6858000"/>
              <a:gd name="connsiteX1" fmla="*/ 364331 w 6508046"/>
              <a:gd name="connsiteY1" fmla="*/ 0 h 6858000"/>
              <a:gd name="connsiteX2" fmla="*/ 1163270 w 6508046"/>
              <a:gd name="connsiteY2" fmla="*/ 2195274 h 6858000"/>
              <a:gd name="connsiteX3" fmla="*/ 1708696 w 6508046"/>
              <a:gd name="connsiteY3" fmla="*/ 4033986 h 6858000"/>
              <a:gd name="connsiteX4" fmla="*/ 1771025 w 6508046"/>
              <a:gd name="connsiteY4" fmla="*/ 4033986 h 6858000"/>
              <a:gd name="connsiteX5" fmla="*/ 2316450 w 6508046"/>
              <a:gd name="connsiteY5" fmla="*/ 2195274 h 6858000"/>
              <a:gd name="connsiteX6" fmla="*/ 3084403 w 6508046"/>
              <a:gd name="connsiteY6" fmla="*/ 0 h 6858000"/>
              <a:gd name="connsiteX7" fmla="*/ 6508046 w 6508046"/>
              <a:gd name="connsiteY7" fmla="*/ 0 h 6858000"/>
              <a:gd name="connsiteX8" fmla="*/ 6508046 w 6508046"/>
              <a:gd name="connsiteY8" fmla="*/ 6858000 h 6858000"/>
              <a:gd name="connsiteX9" fmla="*/ 4310896 w 6508046"/>
              <a:gd name="connsiteY9" fmla="*/ 6858000 h 6858000"/>
              <a:gd name="connsiteX10" fmla="*/ 4310896 w 6508046"/>
              <a:gd name="connsiteY10" fmla="*/ 4407962 h 6858000"/>
              <a:gd name="connsiteX11" fmla="*/ 4638169 w 6508046"/>
              <a:gd name="connsiteY11" fmla="*/ 683746 h 6858000"/>
              <a:gd name="connsiteX12" fmla="*/ 4575840 w 6508046"/>
              <a:gd name="connsiteY12" fmla="*/ 683746 h 6858000"/>
              <a:gd name="connsiteX13" fmla="*/ 3734395 w 6508046"/>
              <a:gd name="connsiteY13" fmla="*/ 3332738 h 6858000"/>
              <a:gd name="connsiteX14" fmla="*/ 2441823 w 6508046"/>
              <a:gd name="connsiteY14" fmla="*/ 6858000 h 6858000"/>
              <a:gd name="connsiteX15" fmla="*/ 914221 w 6508046"/>
              <a:gd name="connsiteY15" fmla="*/ 6858000 h 6858000"/>
              <a:gd name="connsiteX16" fmla="*/ 0 w 6508046"/>
              <a:gd name="connsiteY16" fmla="*/ 43361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08046" h="6858000">
                <a:moveTo>
                  <a:pt x="0" y="0"/>
                </a:moveTo>
                <a:lnTo>
                  <a:pt x="364331" y="0"/>
                </a:lnTo>
                <a:lnTo>
                  <a:pt x="1163270" y="2195274"/>
                </a:lnTo>
                <a:cubicBezTo>
                  <a:pt x="1350258" y="2787402"/>
                  <a:pt x="1521708" y="3395157"/>
                  <a:pt x="1708696" y="4033986"/>
                </a:cubicBezTo>
                <a:lnTo>
                  <a:pt x="1771025" y="4033986"/>
                </a:lnTo>
                <a:cubicBezTo>
                  <a:pt x="1958013" y="3395067"/>
                  <a:pt x="2113925" y="2787313"/>
                  <a:pt x="2316450" y="2195274"/>
                </a:cubicBezTo>
                <a:lnTo>
                  <a:pt x="3084403" y="0"/>
                </a:lnTo>
                <a:lnTo>
                  <a:pt x="6508046" y="0"/>
                </a:lnTo>
                <a:lnTo>
                  <a:pt x="6508046" y="6858000"/>
                </a:lnTo>
                <a:lnTo>
                  <a:pt x="4310896" y="6858000"/>
                </a:lnTo>
                <a:lnTo>
                  <a:pt x="4310896" y="4407962"/>
                </a:lnTo>
                <a:cubicBezTo>
                  <a:pt x="4310896" y="3410694"/>
                  <a:pt x="4513511" y="1681014"/>
                  <a:pt x="4638169" y="683746"/>
                </a:cubicBezTo>
                <a:lnTo>
                  <a:pt x="4575840" y="683746"/>
                </a:lnTo>
                <a:lnTo>
                  <a:pt x="3734395" y="3332738"/>
                </a:lnTo>
                <a:lnTo>
                  <a:pt x="2441823" y="6858000"/>
                </a:lnTo>
                <a:lnTo>
                  <a:pt x="914221" y="6858000"/>
                </a:lnTo>
                <a:lnTo>
                  <a:pt x="0" y="43361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771" y="4136571"/>
            <a:ext cx="3907972" cy="1883230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43743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514" y="6356350"/>
            <a:ext cx="217553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7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8A5C12-53C3-4CC4-AA3B-D3292948C778}"/>
              </a:ext>
            </a:extLst>
          </p:cNvPr>
          <p:cNvCxnSpPr>
            <a:cxnSpLocks/>
          </p:cNvCxnSpPr>
          <p:nvPr userDrawn="1"/>
        </p:nvCxnSpPr>
        <p:spPr>
          <a:xfrm>
            <a:off x="7271657" y="0"/>
            <a:ext cx="0" cy="3124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362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230F83A-5E75-4047-ADC0-05151570D7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26578" y="0"/>
            <a:ext cx="5765422" cy="6858000"/>
          </a:xfrm>
          <a:custGeom>
            <a:avLst/>
            <a:gdLst>
              <a:gd name="connsiteX0" fmla="*/ 4105955 w 5765422"/>
              <a:gd name="connsiteY0" fmla="*/ 0 h 6858000"/>
              <a:gd name="connsiteX1" fmla="*/ 5765422 w 5765422"/>
              <a:gd name="connsiteY1" fmla="*/ 0 h 6858000"/>
              <a:gd name="connsiteX2" fmla="*/ 5765422 w 5765422"/>
              <a:gd name="connsiteY2" fmla="*/ 6858000 h 6858000"/>
              <a:gd name="connsiteX3" fmla="*/ 0 w 57654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5422" h="6858000">
                <a:moveTo>
                  <a:pt x="4105955" y="0"/>
                </a:moveTo>
                <a:lnTo>
                  <a:pt x="5765422" y="0"/>
                </a:lnTo>
                <a:lnTo>
                  <a:pt x="576542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6FD6FB9-CD68-47AB-A03D-06B72104AF1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11657" y="-16298"/>
            <a:ext cx="5555640" cy="6874299"/>
          </a:xfrm>
          <a:custGeom>
            <a:avLst/>
            <a:gdLst>
              <a:gd name="connsiteX0" fmla="*/ 0 w 5555640"/>
              <a:gd name="connsiteY0" fmla="*/ 0 h 6874299"/>
              <a:gd name="connsiteX1" fmla="*/ 5555640 w 5555640"/>
              <a:gd name="connsiteY1" fmla="*/ 8960 h 6874299"/>
              <a:gd name="connsiteX2" fmla="*/ 1445237 w 5555640"/>
              <a:gd name="connsiteY2" fmla="*/ 6874299 h 6874299"/>
              <a:gd name="connsiteX3" fmla="*/ 0 w 5555640"/>
              <a:gd name="connsiteY3" fmla="*/ 6874299 h 687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5640" h="6874299">
                <a:moveTo>
                  <a:pt x="0" y="0"/>
                </a:moveTo>
                <a:lnTo>
                  <a:pt x="5555640" y="8960"/>
                </a:lnTo>
                <a:lnTo>
                  <a:pt x="1445237" y="6874299"/>
                </a:lnTo>
                <a:lnTo>
                  <a:pt x="0" y="68742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307" y="4277953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6823" y="475256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69713" y="5217644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AD14F11B-0FDD-41EF-8278-550F37093B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0046" y="567320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B2270B-D707-4103-98F1-E697CEBA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420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7FA4A-CE52-4DA0-8842-74FE37E2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BCD1D-6E4A-43CA-A3D4-B104CE27D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BDA0-5B55-4A85-ACBF-31F8F3EB2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7/1/20XX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AA55C-7321-4214-9297-F53B7B9E5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30C71-8F7D-4855-A35C-46C83B4BF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66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78" r:id="rId3"/>
    <p:sldLayoutId id="2147483667" r:id="rId4"/>
    <p:sldLayoutId id="2147483668" r:id="rId5"/>
    <p:sldLayoutId id="2147483669" r:id="rId6"/>
    <p:sldLayoutId id="2147483670" r:id="rId7"/>
    <p:sldLayoutId id="2147483651" r:id="rId8"/>
    <p:sldLayoutId id="2147483671" r:id="rId9"/>
    <p:sldLayoutId id="2147483679" r:id="rId10"/>
    <p:sldLayoutId id="2147483677" r:id="rId11"/>
    <p:sldLayoutId id="2147483672" r:id="rId12"/>
    <p:sldLayoutId id="2147483652" r:id="rId13"/>
    <p:sldLayoutId id="2147483653" r:id="rId14"/>
    <p:sldLayoutId id="2147483650" r:id="rId15"/>
    <p:sldLayoutId id="2147483654" r:id="rId16"/>
    <p:sldLayoutId id="2147483674" r:id="rId17"/>
    <p:sldLayoutId id="2147483676" r:id="rId18"/>
    <p:sldLayoutId id="2147483673" r:id="rId19"/>
    <p:sldLayoutId id="2147483675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3.wdp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11" Type="http://schemas.microsoft.com/office/2007/relationships/hdphoto" Target="../media/hdphoto2.wdp"/><Relationship Id="rId5" Type="http://schemas.openxmlformats.org/officeDocument/2006/relationships/image" Target="../media/image8.sv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microsoft.com/office/2007/relationships/hdphoto" Target="../media/hdphoto6.wdp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71E6F8-8F9A-6FC6-0E77-22A1C7CE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18B4A-6641-2E63-704A-70ACE5F7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1" y="5564662"/>
            <a:ext cx="3095502" cy="691696"/>
          </a:xfrm>
        </p:spPr>
        <p:txBody>
          <a:bodyPr/>
          <a:lstStyle/>
          <a:p>
            <a:r>
              <a:rPr lang="bs-Latn-BA" sz="1200" dirty="0">
                <a:solidFill>
                  <a:schemeClr val="tx1"/>
                </a:solidFill>
                <a:latin typeface="Avenir Next LT Pro Light"/>
              </a:rPr>
              <a:t>Elma Čomor, Adil Eminagić, Berun Agić</a:t>
            </a:r>
            <a:endParaRPr lang="en-US" sz="1200" dirty="0">
              <a:solidFill>
                <a:schemeClr val="tx1"/>
              </a:solidFill>
              <a:latin typeface="Avenir Next LT Pro Light"/>
              <a:ea typeface="Source Sans Pr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F90B9-16DB-3B68-FA5D-34A05530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6F5713C0-9AD4-5AEB-B114-0833CAF032E5}"/>
              </a:ext>
            </a:extLst>
          </p:cNvPr>
          <p:cNvSpPr txBox="1">
            <a:spLocks/>
          </p:cNvSpPr>
          <p:nvPr/>
        </p:nvSpPr>
        <p:spPr>
          <a:xfrm>
            <a:off x="2594244" y="1859330"/>
            <a:ext cx="6680218" cy="280165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r-BA" sz="6600" cap="none" dirty="0" err="1">
                <a:solidFill>
                  <a:schemeClr val="tx1"/>
                </a:solidFill>
                <a:latin typeface="Avenir Next LT Pro Light"/>
                <a:cs typeface="Times New Roman"/>
              </a:rPr>
              <a:t>CompaniOn</a:t>
            </a:r>
            <a:r>
              <a:rPr lang="hr-BA" sz="6600" cap="none" dirty="0">
                <a:solidFill>
                  <a:schemeClr val="tx1"/>
                </a:solidFill>
                <a:latin typeface="Avenir Next LT Pro Light"/>
                <a:cs typeface="Times New Roman"/>
              </a:rPr>
              <a:t> </a:t>
            </a:r>
            <a:br>
              <a:rPr lang="hr-BA" sz="6600" cap="none" dirty="0">
                <a:latin typeface="Avenir Next LT Pro Light"/>
              </a:rPr>
            </a:br>
            <a:endParaRPr lang="hr-BA" sz="6600" cap="none" dirty="0">
              <a:latin typeface="Avenir Next LT Pro Light"/>
            </a:endParaRPr>
          </a:p>
        </p:txBody>
      </p:sp>
      <p:sp>
        <p:nvSpPr>
          <p:cNvPr id="10" name="Subtitle 31">
            <a:extLst>
              <a:ext uri="{FF2B5EF4-FFF2-40B4-BE49-F238E27FC236}">
                <a16:creationId xmlns:a16="http://schemas.microsoft.com/office/drawing/2014/main" id="{02962ECF-CE7F-58F4-9959-9D2752FA0F75}"/>
              </a:ext>
            </a:extLst>
          </p:cNvPr>
          <p:cNvSpPr txBox="1">
            <a:spLocks/>
          </p:cNvSpPr>
          <p:nvPr/>
        </p:nvSpPr>
        <p:spPr>
          <a:xfrm>
            <a:off x="4256788" y="3584834"/>
            <a:ext cx="3677297" cy="682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dirty="0">
                <a:latin typeface="Avenir Next LT Pro Light" panose="020B0304020202020204" pitchFamily="34" charset="-18"/>
              </a:rPr>
              <a:t>Elderly Care Solution</a:t>
            </a:r>
            <a:endParaRPr lang="en-US" dirty="0">
              <a:latin typeface="Avenir Next LT Pro Light" panose="020B0304020202020204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55904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F89910-8FBE-2C47-A631-7AAAEC24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BA" sz="4000" dirty="0" err="1">
                <a:latin typeface="Avenir Next LT Pro Light" panose="020B0304020202020204" pitchFamily="34" charset="0"/>
              </a:rPr>
              <a:t>Context</a:t>
            </a:r>
            <a:endParaRPr lang="en-US" sz="4000" dirty="0">
              <a:latin typeface="Avenir Next LT Pro Light" panose="020B0304020202020204" pitchFamily="34" charset="0"/>
            </a:endParaRPr>
          </a:p>
        </p:txBody>
      </p:sp>
      <p:pic>
        <p:nvPicPr>
          <p:cNvPr id="3" name="Picture 2" descr="A logo with hands and a flower&#10;&#10;AI-generated content may be incorrect.">
            <a:extLst>
              <a:ext uri="{FF2B5EF4-FFF2-40B4-BE49-F238E27FC236}">
                <a16:creationId xmlns:a16="http://schemas.microsoft.com/office/drawing/2014/main" id="{826755EA-F4F8-BFF1-AE16-4A30A0876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2554" r="2" b="23338"/>
          <a:stretch/>
        </p:blipFill>
        <p:spPr>
          <a:xfrm>
            <a:off x="838200" y="1825625"/>
            <a:ext cx="5181600" cy="4351338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3D6D4-C59A-799E-4BB4-B8A0207A8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r-BA" sz="2400" dirty="0" err="1">
                <a:latin typeface="Avenir Next LT Pro Light" panose="020B0304020202020204" pitchFamily="34" charset="0"/>
              </a:rPr>
              <a:t>Description</a:t>
            </a:r>
            <a:r>
              <a:rPr lang="hr-BA" sz="2400" dirty="0">
                <a:latin typeface="Avenir Next LT Pro Light" panose="020B0304020202020204" pitchFamily="34" charset="0"/>
              </a:rPr>
              <a:t> </a:t>
            </a:r>
            <a:r>
              <a:rPr lang="hr-BA" sz="2400" dirty="0" err="1">
                <a:latin typeface="Avenir Next LT Pro Light" panose="020B0304020202020204" pitchFamily="34" charset="0"/>
              </a:rPr>
              <a:t>of</a:t>
            </a:r>
            <a:r>
              <a:rPr lang="hr-BA" sz="2400" dirty="0">
                <a:latin typeface="Avenir Next LT Pro Light" panose="020B0304020202020204" pitchFamily="34" charset="0"/>
              </a:rPr>
              <a:t> </a:t>
            </a:r>
            <a:r>
              <a:rPr lang="hr-BA" sz="2400" dirty="0" err="1">
                <a:latin typeface="Avenir Next LT Pro Light" panose="020B0304020202020204" pitchFamily="34" charset="0"/>
              </a:rPr>
              <a:t>the</a:t>
            </a:r>
            <a:r>
              <a:rPr lang="hr-BA" sz="2400" dirty="0">
                <a:latin typeface="Avenir Next LT Pro Light" panose="020B0304020202020204" pitchFamily="34" charset="0"/>
              </a:rPr>
              <a:t> Business </a:t>
            </a:r>
            <a:r>
              <a:rPr lang="hr-BA" sz="2400" dirty="0" err="1">
                <a:latin typeface="Avenir Next LT Pro Light" panose="020B0304020202020204" pitchFamily="34" charset="0"/>
              </a:rPr>
              <a:t>Idea</a:t>
            </a:r>
            <a:endParaRPr lang="hr-BA" sz="2400" dirty="0">
              <a:latin typeface="Avenir Next LT Pro Light" panose="020B03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r-BA" sz="2400" dirty="0" err="1">
                <a:latin typeface="Avenir Next LT Pro Light" panose="020B0304020202020204" pitchFamily="34" charset="0"/>
              </a:rPr>
              <a:t>Description</a:t>
            </a:r>
            <a:r>
              <a:rPr lang="hr-BA" sz="2400" dirty="0">
                <a:latin typeface="Avenir Next LT Pro Light" panose="020B0304020202020204" pitchFamily="34" charset="0"/>
              </a:rPr>
              <a:t> </a:t>
            </a:r>
            <a:r>
              <a:rPr lang="hr-BA" sz="2400" dirty="0" err="1">
                <a:latin typeface="Avenir Next LT Pro Light" panose="020B0304020202020204" pitchFamily="34" charset="0"/>
              </a:rPr>
              <a:t>of</a:t>
            </a:r>
            <a:r>
              <a:rPr lang="hr-BA" sz="2400" dirty="0">
                <a:latin typeface="Avenir Next LT Pro Light" panose="020B0304020202020204" pitchFamily="34" charset="0"/>
              </a:rPr>
              <a:t> </a:t>
            </a:r>
            <a:r>
              <a:rPr lang="hr-BA" sz="2400" dirty="0" err="1">
                <a:latin typeface="Avenir Next LT Pro Light" panose="020B0304020202020204" pitchFamily="34" charset="0"/>
              </a:rPr>
              <a:t>Services</a:t>
            </a:r>
            <a:endParaRPr lang="hr-BA" sz="2400" dirty="0">
              <a:latin typeface="Avenir Next LT Pro Light" panose="020B03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r-BA" sz="2400" dirty="0">
                <a:latin typeface="Avenir Next LT Pro Light" panose="020B0304020202020204" pitchFamily="34" charset="0"/>
              </a:rPr>
              <a:t>Market </a:t>
            </a:r>
            <a:r>
              <a:rPr lang="hr-BA" sz="2400" dirty="0" err="1">
                <a:latin typeface="Avenir Next LT Pro Light" panose="020B0304020202020204" pitchFamily="34" charset="0"/>
              </a:rPr>
              <a:t>Analysis</a:t>
            </a:r>
            <a:endParaRPr lang="hr-BA" sz="2400" dirty="0">
              <a:latin typeface="Avenir Next LT Pro Light" panose="020B03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r-BA" sz="2400" dirty="0" err="1">
                <a:latin typeface="Avenir Next LT Pro Light" panose="020B0304020202020204" pitchFamily="34" charset="0"/>
              </a:rPr>
              <a:t>Desription</a:t>
            </a:r>
            <a:r>
              <a:rPr lang="hr-BA" sz="2400" dirty="0">
                <a:latin typeface="Avenir Next LT Pro Light" panose="020B0304020202020204" pitchFamily="34" charset="0"/>
              </a:rPr>
              <a:t> </a:t>
            </a:r>
            <a:r>
              <a:rPr lang="hr-BA" sz="2400" dirty="0" err="1">
                <a:latin typeface="Avenir Next LT Pro Light" panose="020B0304020202020204" pitchFamily="34" charset="0"/>
              </a:rPr>
              <a:t>of</a:t>
            </a:r>
            <a:r>
              <a:rPr lang="hr-BA" sz="2400" dirty="0">
                <a:latin typeface="Avenir Next LT Pro Light" panose="020B0304020202020204" pitchFamily="34" charset="0"/>
              </a:rPr>
              <a:t> </a:t>
            </a:r>
            <a:r>
              <a:rPr lang="hr-BA" sz="2400" dirty="0" err="1">
                <a:latin typeface="Avenir Next LT Pro Light" panose="020B0304020202020204" pitchFamily="34" charset="0"/>
              </a:rPr>
              <a:t>Implementation</a:t>
            </a:r>
            <a:endParaRPr lang="hr-BA" sz="2400" dirty="0">
              <a:latin typeface="Avenir Next LT Pro Light" panose="020B03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r-BA" sz="2400" dirty="0">
                <a:latin typeface="Avenir Next LT Pro Light" panose="020B0304020202020204" pitchFamily="34" charset="0"/>
              </a:rPr>
              <a:t>Company </a:t>
            </a:r>
            <a:r>
              <a:rPr lang="hr-BA" sz="2400" dirty="0" err="1">
                <a:latin typeface="Avenir Next LT Pro Light" panose="020B0304020202020204" pitchFamily="34" charset="0"/>
              </a:rPr>
              <a:t>Structure</a:t>
            </a:r>
            <a:endParaRPr lang="hr-BA" sz="2400" dirty="0">
              <a:latin typeface="Avenir Next LT Pro Light" panose="020B03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r-BA" sz="2400" dirty="0">
                <a:latin typeface="Avenir Next LT Pro Light" panose="020B0304020202020204" pitchFamily="34" charset="0"/>
              </a:rPr>
              <a:t>Financial Plan</a:t>
            </a:r>
            <a:endParaRPr lang="en-US" sz="2400" dirty="0">
              <a:latin typeface="Avenir Next LT Pro Light" panose="020B0304020202020204" pitchFamily="34" charset="0"/>
            </a:endParaRP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80DDB37-9CF5-AB2B-2859-2FC66D9B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9486795F-9BEC-63FB-CE35-129409A7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bs-Latn-BA" dirty="0"/>
              <a:t>Fakultet Infomracijskih Tehnologija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04110-0910-067F-C18F-DA430B32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FF96520-E4CE-4EAD-8ABF-1D2297D6B3A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05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artoon of an old person holding a cell phone&#10;&#10;AI-generated content may be incorrect.">
            <a:extLst>
              <a:ext uri="{FF2B5EF4-FFF2-40B4-BE49-F238E27FC236}">
                <a16:creationId xmlns:a16="http://schemas.microsoft.com/office/drawing/2014/main" id="{708182C5-1A9C-FF3E-53A4-8E0BEA524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7200" y="2309"/>
            <a:ext cx="7472217" cy="6858000"/>
          </a:xfrm>
          <a:prstGeom prst="parallelogram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B9E9C1-109A-709C-2C01-C5844D920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8878" y="3334307"/>
            <a:ext cx="7176471" cy="36192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s-Latn-BA" sz="2400" dirty="0">
                <a:latin typeface="Avenir Next LT Pro Light"/>
                <a:ea typeface="+mn-lt"/>
                <a:cs typeface="+mn-lt"/>
              </a:rPr>
              <a:t>3D AI Assistant for eldery people and their family members with inovative features, and a subscription based income model</a:t>
            </a:r>
            <a:endParaRPr lang="en-US" sz="2400" dirty="0">
              <a:latin typeface="Avenir Next LT Pro Light"/>
              <a:ea typeface="+mn-lt"/>
              <a:cs typeface="+mn-lt"/>
            </a:endParaRPr>
          </a:p>
          <a:p>
            <a:r>
              <a:rPr lang="bs-Latn-BA" sz="2400" dirty="0">
                <a:latin typeface="Avenir Next LT Pro Light"/>
                <a:ea typeface="+mn-lt"/>
                <a:cs typeface="+mn-lt"/>
              </a:rPr>
              <a:t>3 Shareholders with 33.33% of shares each</a:t>
            </a:r>
            <a:endParaRPr lang="en-US" sz="2400" dirty="0">
              <a:latin typeface="Avenir Next LT Pro Light"/>
              <a:ea typeface="+mn-lt"/>
              <a:cs typeface="+mn-lt"/>
            </a:endParaRPr>
          </a:p>
          <a:p>
            <a:r>
              <a:rPr lang="bs-Latn-BA" sz="2400" dirty="0">
                <a:latin typeface="Avenir Next LT Pro Light"/>
                <a:ea typeface="+mn-lt"/>
                <a:cs typeface="+mn-lt"/>
              </a:rPr>
              <a:t>Remote work and digital project managment tools that form non existing costs on location managment and facilities</a:t>
            </a:r>
            <a:endParaRPr lang="en-US" sz="2400" dirty="0">
              <a:latin typeface="Avenir Next LT Pro Light"/>
              <a:ea typeface="+mn-lt"/>
              <a:cs typeface="+mn-lt"/>
            </a:endParaRPr>
          </a:p>
          <a:p>
            <a:endParaRPr lang="en-US" dirty="0">
              <a:latin typeface="Avenir Next LT Pro Light"/>
              <a:ea typeface="Source Sans Pro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14258-DFF5-2A28-AE8B-85333148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dirty="0"/>
              <a:t>Fakultet Informacijskih Tehnologija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402DE-1055-E28A-0DE4-A8EFD42A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733656-BFCD-884D-7D63-76D78792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9471" y="1360882"/>
            <a:ext cx="3822993" cy="92480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  <a:latin typeface="Avenir Next LT Pro Light"/>
                <a:ea typeface="Source Sans Pro"/>
              </a:rPr>
              <a:t>Description of the Business Idea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A9F04-414A-8937-33A7-83E063FB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78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6B10F6-2843-4F9A-4BE1-8171EBE6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1844D-B60D-3D51-37D8-27F3EB2C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dirty="0"/>
              <a:t>Fakultet Informacijskih Tehnologija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18F18-7C64-A46D-CD12-A4E7BDF9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2ED93B-837F-088E-A1D7-7EBB6F68C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796" y="165791"/>
            <a:ext cx="10134601" cy="924808"/>
          </a:xfrm>
        </p:spPr>
        <p:txBody>
          <a:bodyPr>
            <a:normAutofit/>
          </a:bodyPr>
          <a:lstStyle/>
          <a:p>
            <a:pPr algn="ctr"/>
            <a:r>
              <a:rPr lang="hr-BA" sz="3600" dirty="0" err="1">
                <a:solidFill>
                  <a:schemeClr val="tx1"/>
                </a:solidFill>
                <a:latin typeface="Avenir Next LT Pro Light"/>
              </a:rPr>
              <a:t>Description</a:t>
            </a:r>
            <a:r>
              <a:rPr lang="hr-BA" sz="3600" dirty="0">
                <a:solidFill>
                  <a:schemeClr val="tx1"/>
                </a:solidFill>
                <a:latin typeface="Avenir Next LT Pro Light"/>
              </a:rPr>
              <a:t> </a:t>
            </a:r>
            <a:r>
              <a:rPr lang="hr-BA" sz="3600" dirty="0" err="1">
                <a:solidFill>
                  <a:schemeClr val="tx1"/>
                </a:solidFill>
                <a:latin typeface="Avenir Next LT Pro Light"/>
              </a:rPr>
              <a:t>of</a:t>
            </a:r>
            <a:r>
              <a:rPr lang="hr-BA" sz="3600" dirty="0">
                <a:solidFill>
                  <a:schemeClr val="tx1"/>
                </a:solidFill>
                <a:latin typeface="Avenir Next LT Pro Light"/>
              </a:rPr>
              <a:t> </a:t>
            </a:r>
            <a:r>
              <a:rPr lang="hr-BA" sz="3600" dirty="0" err="1">
                <a:solidFill>
                  <a:schemeClr val="tx1"/>
                </a:solidFill>
                <a:latin typeface="Avenir Next LT Pro Light"/>
              </a:rPr>
              <a:t>Services</a:t>
            </a:r>
            <a:endParaRPr lang="en-US" dirty="0">
              <a:ea typeface="Source Sans Pro"/>
            </a:endParaRPr>
          </a:p>
        </p:txBody>
      </p:sp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844E8763-D418-CD4B-9695-FD208328898C}"/>
              </a:ext>
            </a:extLst>
          </p:cNvPr>
          <p:cNvSpPr txBox="1">
            <a:spLocks/>
          </p:cNvSpPr>
          <p:nvPr/>
        </p:nvSpPr>
        <p:spPr>
          <a:xfrm>
            <a:off x="2231166" y="2947770"/>
            <a:ext cx="3176037" cy="497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Avenir Next LT Pro Light" panose="020B0304020202020204" pitchFamily="34" charset="-18"/>
              </a:rPr>
              <a:t>AI Assistant</a:t>
            </a:r>
            <a:endParaRPr lang="en-US" sz="2400" dirty="0">
              <a:latin typeface="Avenir Next LT Pro Light" panose="020B0304020202020204" pitchFamily="34" charset="-18"/>
            </a:endParaRPr>
          </a:p>
          <a:p>
            <a:endParaRPr lang="en-US" sz="2400" dirty="0">
              <a:latin typeface="Avenir Next LT Pro Light" panose="020B0304020202020204" pitchFamily="34" charset="-18"/>
            </a:endParaRPr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A4057C42-2B9E-22CD-3E95-9F4106F22041}"/>
              </a:ext>
            </a:extLst>
          </p:cNvPr>
          <p:cNvSpPr txBox="1">
            <a:spLocks/>
          </p:cNvSpPr>
          <p:nvPr/>
        </p:nvSpPr>
        <p:spPr>
          <a:xfrm>
            <a:off x="2231166" y="3990127"/>
            <a:ext cx="2743201" cy="671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Avenir Next LT Pro Light"/>
              </a:rPr>
              <a:t>SOS Button</a:t>
            </a:r>
            <a:endParaRPr lang="en-US" sz="2400" dirty="0">
              <a:latin typeface="Avenir Next LT Pro Light" panose="020B0304020202020204" pitchFamily="34" charset="-18"/>
            </a:endParaRPr>
          </a:p>
        </p:txBody>
      </p: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A5870F26-6CFE-B6AB-2C84-7AABDD39F1B2}"/>
              </a:ext>
            </a:extLst>
          </p:cNvPr>
          <p:cNvSpPr txBox="1">
            <a:spLocks/>
          </p:cNvSpPr>
          <p:nvPr/>
        </p:nvSpPr>
        <p:spPr>
          <a:xfrm>
            <a:off x="8610601" y="2975130"/>
            <a:ext cx="2742034" cy="781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Avenir Next LT Pro Light"/>
              </a:rPr>
              <a:t>Reminders</a:t>
            </a:r>
            <a:endParaRPr lang="en-US" sz="2400" dirty="0">
              <a:latin typeface="Avenir Next LT Pro Light"/>
            </a:endParaRPr>
          </a:p>
          <a:p>
            <a:pPr marL="0" indent="0">
              <a:buNone/>
            </a:pPr>
            <a:endParaRPr lang="en-US" sz="2400" dirty="0">
              <a:latin typeface="Avenir Next LT Pro Light" panose="020B0304020202020204" pitchFamily="34" charset="-18"/>
            </a:endParaRPr>
          </a:p>
        </p:txBody>
      </p:sp>
      <p:sp>
        <p:nvSpPr>
          <p:cNvPr id="28" name="Content Placeholder 1">
            <a:extLst>
              <a:ext uri="{FF2B5EF4-FFF2-40B4-BE49-F238E27FC236}">
                <a16:creationId xmlns:a16="http://schemas.microsoft.com/office/drawing/2014/main" id="{8CCD4ECB-6F5F-C152-1EEF-B6A99CA1B0E6}"/>
              </a:ext>
            </a:extLst>
          </p:cNvPr>
          <p:cNvSpPr txBox="1">
            <a:spLocks/>
          </p:cNvSpPr>
          <p:nvPr/>
        </p:nvSpPr>
        <p:spPr>
          <a:xfrm>
            <a:off x="8447878" y="4042580"/>
            <a:ext cx="2743201" cy="8870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b="1" dirty="0">
                <a:latin typeface="Avenir Next LT Pro Light"/>
              </a:rPr>
              <a:t>Location tracking</a:t>
            </a:r>
            <a:endParaRPr lang="en-US" sz="2400" dirty="0">
              <a:latin typeface="Avenir Next LT Pro Light" panose="020B0304020202020204" pitchFamily="34" charset="-18"/>
            </a:endParaRPr>
          </a:p>
        </p:txBody>
      </p:sp>
      <p:pic>
        <p:nvPicPr>
          <p:cNvPr id="10" name="Graphic 9" descr="Robot outline">
            <a:extLst>
              <a:ext uri="{FF2B5EF4-FFF2-40B4-BE49-F238E27FC236}">
                <a16:creationId xmlns:a16="http://schemas.microsoft.com/office/drawing/2014/main" id="{B08666F2-3553-7E5F-AAEC-0A0B397E6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5184" y="2735649"/>
            <a:ext cx="738217" cy="731133"/>
          </a:xfrm>
          <a:prstGeom prst="rect">
            <a:avLst/>
          </a:prstGeom>
        </p:spPr>
      </p:pic>
      <p:pic>
        <p:nvPicPr>
          <p:cNvPr id="12" name="Graphic 11" descr="Radio microphone outline">
            <a:extLst>
              <a:ext uri="{FF2B5EF4-FFF2-40B4-BE49-F238E27FC236}">
                <a16:creationId xmlns:a16="http://schemas.microsoft.com/office/drawing/2014/main" id="{9009C3C7-CD5D-38EC-C962-93D8D1E13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0486" y="2770673"/>
            <a:ext cx="731133" cy="731133"/>
          </a:xfrm>
          <a:prstGeom prst="rect">
            <a:avLst/>
          </a:prstGeom>
        </p:spPr>
      </p:pic>
      <p:pic>
        <p:nvPicPr>
          <p:cNvPr id="13" name="Graphic 12" descr="Siren outline">
            <a:extLst>
              <a:ext uri="{FF2B5EF4-FFF2-40B4-BE49-F238E27FC236}">
                <a16:creationId xmlns:a16="http://schemas.microsoft.com/office/drawing/2014/main" id="{73BBE937-B52E-96C6-67D1-5B495BDC0A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5184" y="3689727"/>
            <a:ext cx="731133" cy="731133"/>
          </a:xfrm>
          <a:prstGeom prst="rect">
            <a:avLst/>
          </a:prstGeom>
        </p:spPr>
      </p:pic>
      <p:pic>
        <p:nvPicPr>
          <p:cNvPr id="14" name="Graphic 13" descr="Group of women with solid fill">
            <a:extLst>
              <a:ext uri="{FF2B5EF4-FFF2-40B4-BE49-F238E27FC236}">
                <a16:creationId xmlns:a16="http://schemas.microsoft.com/office/drawing/2014/main" id="{0E596E54-DFD3-F4B9-877A-3CFB738917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0486" y="3806696"/>
            <a:ext cx="731133" cy="731133"/>
          </a:xfrm>
          <a:prstGeom prst="rect">
            <a:avLst/>
          </a:prstGeom>
        </p:spPr>
      </p:pic>
      <p:pic>
        <p:nvPicPr>
          <p:cNvPr id="8" name="Picture 7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5CF00145-5C90-FB13-ED6A-1E85E627CC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97016" y="1114947"/>
            <a:ext cx="1177294" cy="1177294"/>
          </a:xfrm>
          <a:prstGeom prst="rect">
            <a:avLst/>
          </a:prstGeom>
        </p:spPr>
      </p:pic>
      <p:pic>
        <p:nvPicPr>
          <p:cNvPr id="9" name="Picture 8" descr="A cartoon of a person&#10;&#10;Description automatically generated">
            <a:extLst>
              <a:ext uri="{FF2B5EF4-FFF2-40B4-BE49-F238E27FC236}">
                <a16:creationId xmlns:a16="http://schemas.microsoft.com/office/drawing/2014/main" id="{9907CC76-5D2D-EA25-FA51-D450048971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2119" y="1076472"/>
            <a:ext cx="837611" cy="1143950"/>
          </a:xfrm>
          <a:prstGeom prst="rect">
            <a:avLst/>
          </a:prstGeom>
        </p:spPr>
      </p:pic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382A4FD3-440E-9780-1C6E-BF10C32119DA}"/>
              </a:ext>
            </a:extLst>
          </p:cNvPr>
          <p:cNvSpPr txBox="1">
            <a:spLocks/>
          </p:cNvSpPr>
          <p:nvPr/>
        </p:nvSpPr>
        <p:spPr>
          <a:xfrm>
            <a:off x="4838377" y="1045598"/>
            <a:ext cx="3972148" cy="128388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b="1" dirty="0">
                <a:latin typeface="Avenir Next LT Pro Light" panose="020B0304020202020204" pitchFamily="34" charset="-18"/>
              </a:rPr>
              <a:t>Users </a:t>
            </a:r>
            <a:r>
              <a:rPr lang="bs-Latn-BA" sz="2400" dirty="0">
                <a:latin typeface="Avenir Next LT Pro Light" panose="020B0304020202020204" pitchFamily="34" charset="-18"/>
              </a:rPr>
              <a:t>are:</a:t>
            </a:r>
          </a:p>
          <a:p>
            <a:r>
              <a:rPr lang="bs-Latn-BA" sz="2400" dirty="0">
                <a:latin typeface="Avenir Next LT Pro Light" panose="020B0304020202020204" pitchFamily="34" charset="-18"/>
              </a:rPr>
              <a:t>Basic User</a:t>
            </a:r>
          </a:p>
          <a:p>
            <a:r>
              <a:rPr lang="bs-Latn-BA" sz="2400" dirty="0">
                <a:latin typeface="Avenir Next LT Pro Light" panose="020B0304020202020204" pitchFamily="34" charset="-18"/>
              </a:rPr>
              <a:t>Family Member</a:t>
            </a:r>
            <a:endParaRPr lang="hr-BA" sz="2400" dirty="0">
              <a:latin typeface="Avenir Next LT Pro Light" panose="020B0304020202020204" pitchFamily="34" charset="-18"/>
            </a:endParaRPr>
          </a:p>
          <a:p>
            <a:pPr marL="0" indent="0">
              <a:buNone/>
            </a:pPr>
            <a:endParaRPr lang="en-US" sz="2400" dirty="0">
              <a:latin typeface="Avenir Next LT Pro Light" panose="020B0304020202020204" pitchFamily="34" charset="-18"/>
            </a:endParaRPr>
          </a:p>
          <a:p>
            <a:endParaRPr lang="en-US" sz="2400" dirty="0">
              <a:latin typeface="Avenir Next LT Pro Light" panose="020B0304020202020204" pitchFamily="34" charset="-18"/>
            </a:endParaRPr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D453B6A7-3F5F-4B44-69EE-6B1FB3B76DBC}"/>
              </a:ext>
            </a:extLst>
          </p:cNvPr>
          <p:cNvSpPr txBox="1">
            <a:spLocks/>
          </p:cNvSpPr>
          <p:nvPr/>
        </p:nvSpPr>
        <p:spPr>
          <a:xfrm>
            <a:off x="4245076" y="2315844"/>
            <a:ext cx="3972148" cy="1283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b="1" dirty="0">
                <a:latin typeface="Avenir Next LT Pro Light" panose="020B0304020202020204" pitchFamily="34" charset="-18"/>
              </a:rPr>
              <a:t>Key Services and FAB:</a:t>
            </a:r>
            <a:endParaRPr lang="hr-BA" sz="2400" dirty="0">
              <a:latin typeface="Avenir Next LT Pro Light" panose="020B0304020202020204" pitchFamily="34" charset="-18"/>
            </a:endParaRPr>
          </a:p>
          <a:p>
            <a:pPr marL="0" indent="0">
              <a:buNone/>
            </a:pPr>
            <a:endParaRPr lang="en-US" sz="2400" dirty="0">
              <a:latin typeface="Avenir Next LT Pro Light" panose="020B0304020202020204" pitchFamily="34" charset="-18"/>
            </a:endParaRPr>
          </a:p>
          <a:p>
            <a:endParaRPr lang="en-US" sz="2400" dirty="0">
              <a:latin typeface="Avenir Next LT Pro Light" panose="020B0304020202020204" pitchFamily="34" charset="-1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C7D834-62C5-4BD3-7CE3-3BE6BF10849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57545" y="4895119"/>
            <a:ext cx="589561" cy="589561"/>
          </a:xfrm>
          <a:prstGeom prst="rect">
            <a:avLst/>
          </a:prstGeom>
        </p:spPr>
      </p:pic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61D73040-AD14-AD42-5F5B-B1B958307518}"/>
              </a:ext>
            </a:extLst>
          </p:cNvPr>
          <p:cNvSpPr txBox="1">
            <a:spLocks/>
          </p:cNvSpPr>
          <p:nvPr/>
        </p:nvSpPr>
        <p:spPr>
          <a:xfrm>
            <a:off x="8447878" y="5020133"/>
            <a:ext cx="2743201" cy="8870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b="1" dirty="0">
                <a:latin typeface="Avenir Next LT Pro Light"/>
              </a:rPr>
              <a:t>Family Accounts</a:t>
            </a:r>
            <a:endParaRPr lang="en-US" sz="2400" dirty="0">
              <a:latin typeface="Avenir Next LT Pro Light" panose="020B0304020202020204" pitchFamily="34" charset="-18"/>
            </a:endParaRPr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1B6F8A-9FCF-5555-B076-87D2BFBA49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8111" y="4721096"/>
            <a:ext cx="589561" cy="589561"/>
          </a:xfrm>
          <a:prstGeom prst="rect">
            <a:avLst/>
          </a:prstGeom>
        </p:spPr>
      </p:pic>
      <p:sp>
        <p:nvSpPr>
          <p:cNvPr id="24" name="Content Placeholder 1">
            <a:extLst>
              <a:ext uri="{FF2B5EF4-FFF2-40B4-BE49-F238E27FC236}">
                <a16:creationId xmlns:a16="http://schemas.microsoft.com/office/drawing/2014/main" id="{6EFC5AEB-68CE-7BC5-CD4E-58C4C438A4E3}"/>
              </a:ext>
            </a:extLst>
          </p:cNvPr>
          <p:cNvSpPr txBox="1">
            <a:spLocks/>
          </p:cNvSpPr>
          <p:nvPr/>
        </p:nvSpPr>
        <p:spPr>
          <a:xfrm>
            <a:off x="2160470" y="4785362"/>
            <a:ext cx="2743201" cy="6716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b="1" dirty="0">
                <a:latin typeface="Avenir Next LT Pro Light"/>
              </a:rPr>
              <a:t>Dangerous Interacion Warning</a:t>
            </a:r>
            <a:endParaRPr lang="en-US" sz="2400" dirty="0">
              <a:latin typeface="Avenir Next LT Pro Light" panose="020B0304020202020204" pitchFamily="34" charset="-18"/>
            </a:endParaRPr>
          </a:p>
        </p:txBody>
      </p:sp>
      <p:pic>
        <p:nvPicPr>
          <p:cNvPr id="30" name="Picture 29" descr="A black grid with white squares&#10;&#10;AI-generated content may be incorrect.">
            <a:extLst>
              <a:ext uri="{FF2B5EF4-FFF2-40B4-BE49-F238E27FC236}">
                <a16:creationId xmlns:a16="http://schemas.microsoft.com/office/drawing/2014/main" id="{95B47AA7-A030-FBDD-F4D8-2BF23B4C39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8499" y="5499108"/>
            <a:ext cx="589112" cy="589108"/>
          </a:xfrm>
          <a:prstGeom prst="rect">
            <a:avLst/>
          </a:prstGeom>
        </p:spPr>
      </p:pic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2BEE8B44-A8FF-B3ED-963F-4A9D203A7D52}"/>
              </a:ext>
            </a:extLst>
          </p:cNvPr>
          <p:cNvSpPr txBox="1">
            <a:spLocks/>
          </p:cNvSpPr>
          <p:nvPr/>
        </p:nvSpPr>
        <p:spPr>
          <a:xfrm>
            <a:off x="5403905" y="5484680"/>
            <a:ext cx="2743201" cy="8870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b="1" dirty="0">
                <a:latin typeface="Avenir Next LT Pro Light"/>
              </a:rPr>
              <a:t>Customisable Options</a:t>
            </a:r>
            <a:endParaRPr lang="en-US" sz="2400" dirty="0">
              <a:latin typeface="Avenir Next LT Pro Light" panose="020B0304020202020204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80545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A09B-550B-238A-5E87-C3A5CE68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FD574-4338-B5FC-D8F6-22623E84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 descr="A cartoon of a robot holding a phone&#10;&#10;AI-generated content may be incorrect.">
            <a:extLst>
              <a:ext uri="{FF2B5EF4-FFF2-40B4-BE49-F238E27FC236}">
                <a16:creationId xmlns:a16="http://schemas.microsoft.com/office/drawing/2014/main" id="{A1B03283-9709-47D0-F2DF-B1F43A3CA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14390" y="3515833"/>
            <a:ext cx="4114800" cy="4114800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830E638-C88F-97B2-2A58-F736C1C8BC14}"/>
              </a:ext>
            </a:extLst>
          </p:cNvPr>
          <p:cNvSpPr txBox="1">
            <a:spLocks/>
          </p:cNvSpPr>
          <p:nvPr/>
        </p:nvSpPr>
        <p:spPr>
          <a:xfrm>
            <a:off x="193099" y="510345"/>
            <a:ext cx="6011056" cy="601097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COGS</a:t>
            </a:r>
            <a:r>
              <a:rPr lang="en-US" sz="2400" dirty="0">
                <a:latin typeface="Avenir Next LT Pro Light"/>
                <a:ea typeface="+mn-lt"/>
                <a:cs typeface="+mn-lt"/>
              </a:rPr>
              <a:t> in a year with a team of 10 working on the project and 28,500 customers</a:t>
            </a:r>
            <a:r>
              <a:rPr lang="bs-Latn-BA" sz="2400" dirty="0">
                <a:latin typeface="Avenir Next LT Pro Light"/>
                <a:ea typeface="+mn-lt"/>
                <a:cs typeface="+mn-lt"/>
              </a:rPr>
              <a:t>:</a:t>
            </a:r>
            <a:endParaRPr lang="en-US" sz="2400" dirty="0">
              <a:latin typeface="Avenir Next LT Pro Light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$402,124</a:t>
            </a:r>
          </a:p>
          <a:p>
            <a:endParaRPr lang="bs-Latn-BA" dirty="0">
              <a:latin typeface="Avenir Next LT Pro Light"/>
              <a:ea typeface="Source Sans Pro"/>
            </a:endParaRPr>
          </a:p>
          <a:p>
            <a:pPr marL="0" indent="0" algn="ctr">
              <a:buNone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Tiered Subscriptions </a:t>
            </a:r>
            <a:r>
              <a:rPr lang="bs-Latn-BA" sz="2400" b="1" dirty="0">
                <a:latin typeface="Avenir Next LT Pro Light"/>
                <a:ea typeface="+mn-lt"/>
                <a:cs typeface="+mn-lt"/>
              </a:rPr>
              <a:t>Revenue Model: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Free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Start $9.99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Pro $19.99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Enterprise – Custom Pricing</a:t>
            </a:r>
          </a:p>
          <a:p>
            <a:pPr>
              <a:buFont typeface="Wingdings" panose="05000000000000000000" pitchFamily="2" charset="2"/>
              <a:buChar char="v"/>
            </a:pPr>
            <a:endParaRPr lang="bs-Latn-BA" sz="2400" b="1" dirty="0">
              <a:latin typeface="Avenir Next LT Pro Light"/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GM, Revenue </a:t>
            </a:r>
            <a:r>
              <a:rPr lang="bs-Latn-BA" sz="2400" dirty="0">
                <a:latin typeface="Avenir Next LT Pro Light"/>
                <a:ea typeface="+mn-lt"/>
                <a:cs typeface="+mn-lt"/>
              </a:rPr>
              <a:t>per year and</a:t>
            </a:r>
            <a:r>
              <a:rPr lang="bs-Latn-BA" sz="2400" b="1" dirty="0">
                <a:latin typeface="Avenir Next LT Pro Light"/>
                <a:ea typeface="+mn-lt"/>
                <a:cs typeface="+mn-lt"/>
              </a:rPr>
              <a:t> Total Profit</a:t>
            </a:r>
            <a:r>
              <a:rPr lang="bs-Latn-BA" sz="2400" dirty="0">
                <a:latin typeface="Avenir Next LT Pro Light"/>
                <a:ea typeface="+mn-lt"/>
                <a:cs typeface="+mn-lt"/>
              </a:rPr>
              <a:t> with 28,500 customers</a:t>
            </a:r>
            <a:r>
              <a:rPr lang="bs-Latn-BA" sz="2400" b="1" dirty="0">
                <a:latin typeface="Avenir Next LT Pro Light"/>
                <a:ea typeface="+mn-lt"/>
                <a:cs typeface="+mn-lt"/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80% GM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Revenue Per Year $2,033,040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Total Profit $1,630,916</a:t>
            </a:r>
          </a:p>
          <a:p>
            <a:pPr>
              <a:buFont typeface="Wingdings" panose="05000000000000000000" pitchFamily="2" charset="2"/>
              <a:buChar char="v"/>
            </a:pPr>
            <a:endParaRPr lang="bs-Latn-BA" sz="2400" b="1" dirty="0">
              <a:latin typeface="Avenir Next LT Pro Light"/>
              <a:ea typeface="+mn-lt"/>
              <a:cs typeface="+mn-lt"/>
            </a:endParaRPr>
          </a:p>
          <a:p>
            <a:pPr marL="0" indent="0">
              <a:buNone/>
            </a:pPr>
            <a:endParaRPr lang="bs-Latn-BA" sz="2400" dirty="0">
              <a:latin typeface="Avenir Next LT Pro Light"/>
              <a:ea typeface="Source Sans Pro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AF317-D289-398F-8D6E-C97D214C8098}"/>
              </a:ext>
            </a:extLst>
          </p:cNvPr>
          <p:cNvCxnSpPr>
            <a:cxnSpLocks/>
          </p:cNvCxnSpPr>
          <p:nvPr/>
        </p:nvCxnSpPr>
        <p:spPr>
          <a:xfrm>
            <a:off x="6462559" y="194573"/>
            <a:ext cx="0" cy="603477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3954B808-B62B-77F8-C143-3DB774317E8D}"/>
              </a:ext>
            </a:extLst>
          </p:cNvPr>
          <p:cNvSpPr txBox="1">
            <a:spLocks/>
          </p:cNvSpPr>
          <p:nvPr/>
        </p:nvSpPr>
        <p:spPr>
          <a:xfrm>
            <a:off x="6720964" y="414716"/>
            <a:ext cx="5085981" cy="60285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s-Latn-BA" sz="2400" b="1" dirty="0">
                <a:latin typeface="Avenir Next LT Pro Light"/>
                <a:ea typeface="+mn-lt"/>
                <a:cs typeface="+mn-lt"/>
              </a:rPr>
              <a:t>Future Product Strategy</a:t>
            </a:r>
            <a:r>
              <a:rPr lang="bs-Latn-BA" sz="2400" dirty="0">
                <a:latin typeface="Avenir Next LT Pro Light"/>
                <a:ea typeface="+mn-lt"/>
                <a:cs typeface="+mn-lt"/>
              </a:rPr>
              <a:t>:</a:t>
            </a:r>
            <a:endParaRPr lang="en-US" sz="2400" dirty="0">
              <a:latin typeface="Avenir Next LT Pro Light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Advanced Emotional Interaction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Health Monitoring and Device Integration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Personalised Recommendations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Social Connectivity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Mood and Activity Tracker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Emergency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Rewards and Engagment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Support for Cargivers </a:t>
            </a:r>
          </a:p>
          <a:p>
            <a:pPr marL="0" indent="0">
              <a:buNone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    and Family </a:t>
            </a:r>
          </a:p>
          <a:p>
            <a:pPr marL="0" indent="0">
              <a:buNone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    Members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Accessibility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Integration with </a:t>
            </a:r>
          </a:p>
          <a:p>
            <a:pPr marL="0" indent="0">
              <a:buNone/>
            </a:pPr>
            <a:r>
              <a:rPr lang="bs-Latn-BA" sz="2400" dirty="0">
                <a:latin typeface="Avenir Next LT Pro Light"/>
                <a:ea typeface="+mn-lt"/>
                <a:cs typeface="+mn-lt"/>
              </a:rPr>
              <a:t>    Communitys</a:t>
            </a:r>
          </a:p>
          <a:p>
            <a:pPr>
              <a:buFont typeface="Wingdings" panose="05000000000000000000" pitchFamily="2" charset="2"/>
              <a:buChar char="v"/>
            </a:pPr>
            <a:endParaRPr lang="bs-Latn-BA" sz="2400" b="1" dirty="0">
              <a:latin typeface="Avenir Next LT Pro Light"/>
              <a:ea typeface="+mn-lt"/>
              <a:cs typeface="+mn-lt"/>
            </a:endParaRPr>
          </a:p>
          <a:p>
            <a:pPr marL="0" indent="0">
              <a:buNone/>
            </a:pPr>
            <a:endParaRPr lang="bs-Latn-BA" sz="2400" dirty="0">
              <a:latin typeface="Avenir Next LT Pro Light"/>
              <a:ea typeface="Source Sans Pro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74EF8CC-BA8C-B2FB-496F-BDA77A9A1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0472BDA-A12A-D484-4934-68EF9FD9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bs-Latn-BA" dirty="0"/>
              <a:t>Fakultet Informacijskih Tehnologija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13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9EC28-45A0-F2A0-60F1-60BB502F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A1FA3-2194-A9DF-45B5-673254A2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815106-986C-BDB9-5161-3E57321FC4C2}"/>
              </a:ext>
            </a:extLst>
          </p:cNvPr>
          <p:cNvCxnSpPr>
            <a:cxnSpLocks/>
          </p:cNvCxnSpPr>
          <p:nvPr/>
        </p:nvCxnSpPr>
        <p:spPr>
          <a:xfrm>
            <a:off x="5995836" y="1085823"/>
            <a:ext cx="0" cy="513875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631986E5-C434-A996-7506-45C4980F81F4}"/>
              </a:ext>
            </a:extLst>
          </p:cNvPr>
          <p:cNvSpPr txBox="1">
            <a:spLocks/>
          </p:cNvSpPr>
          <p:nvPr/>
        </p:nvSpPr>
        <p:spPr>
          <a:xfrm>
            <a:off x="6466497" y="4458267"/>
            <a:ext cx="2010419" cy="23765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s-Latn-BA" sz="2000" b="1" dirty="0">
                <a:latin typeface="Avenir Next LT Pro Light"/>
                <a:ea typeface="+mn-lt"/>
                <a:cs typeface="+mn-lt"/>
              </a:rPr>
              <a:t>Competitors</a:t>
            </a:r>
            <a:r>
              <a:rPr lang="bs-Latn-BA" sz="2000" dirty="0">
                <a:latin typeface="Avenir Next LT Pro Light"/>
                <a:ea typeface="+mn-lt"/>
                <a:cs typeface="+mn-lt"/>
              </a:rPr>
              <a:t>:</a:t>
            </a:r>
            <a:endParaRPr lang="en-US" sz="2000" dirty="0">
              <a:latin typeface="Avenir Next LT Pro Light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Replika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Papa Pal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Cogni Fit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Lumiosity</a:t>
            </a:r>
          </a:p>
          <a:p>
            <a:pPr>
              <a:buFont typeface="Wingdings" panose="05000000000000000000" pitchFamily="2" charset="2"/>
              <a:buChar char="v"/>
            </a:pPr>
            <a:endParaRPr lang="bs-Latn-BA" sz="2400" b="1" dirty="0">
              <a:latin typeface="Avenir Next LT Pro Light"/>
              <a:ea typeface="+mn-lt"/>
              <a:cs typeface="+mn-lt"/>
            </a:endParaRPr>
          </a:p>
          <a:p>
            <a:pPr marL="0" indent="0">
              <a:buNone/>
            </a:pPr>
            <a:endParaRPr lang="bs-Latn-BA" sz="2400" dirty="0">
              <a:latin typeface="Avenir Next LT Pro Light"/>
              <a:ea typeface="Source Sans Pro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8C607470-6A2A-F628-8F9C-003A313E47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8D2AEC3-1ECE-11B2-BC4A-C4C82224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bs-Latn-BA" dirty="0"/>
              <a:t>Fakultet Informacijskih Tehnologija</a:t>
            </a:r>
            <a:endParaRPr lang="en-US" dirty="0"/>
          </a:p>
        </p:txBody>
      </p:sp>
      <p:pic>
        <p:nvPicPr>
          <p:cNvPr id="7" name="Picture 6" descr="A graphic of a graph and a coin&#10;&#10;AI-generated content may be incorrect.">
            <a:extLst>
              <a:ext uri="{FF2B5EF4-FFF2-40B4-BE49-F238E27FC236}">
                <a16:creationId xmlns:a16="http://schemas.microsoft.com/office/drawing/2014/main" id="{3A473A6B-922C-F5DB-B450-56B6C5E2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986" y="4563597"/>
            <a:ext cx="2128612" cy="2128612"/>
          </a:xfrm>
          <a:prstGeom prst="rect">
            <a:avLst/>
          </a:prstGeom>
        </p:spPr>
      </p:pic>
      <p:sp>
        <p:nvSpPr>
          <p:cNvPr id="10" name="Title 5">
            <a:extLst>
              <a:ext uri="{FF2B5EF4-FFF2-40B4-BE49-F238E27FC236}">
                <a16:creationId xmlns:a16="http://schemas.microsoft.com/office/drawing/2014/main" id="{E7E41DC6-6ED3-E25E-C50B-F5E4C975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796" y="165791"/>
            <a:ext cx="10134601" cy="924808"/>
          </a:xfrm>
        </p:spPr>
        <p:txBody>
          <a:bodyPr>
            <a:normAutofit/>
          </a:bodyPr>
          <a:lstStyle/>
          <a:p>
            <a:pPr algn="ctr"/>
            <a:r>
              <a:rPr lang="hr-BA" sz="3600" dirty="0">
                <a:solidFill>
                  <a:schemeClr val="tx1"/>
                </a:solidFill>
                <a:latin typeface="Avenir Next LT Pro Light"/>
              </a:rPr>
              <a:t>Market </a:t>
            </a:r>
            <a:r>
              <a:rPr lang="hr-BA" sz="3600" dirty="0" err="1">
                <a:solidFill>
                  <a:schemeClr val="tx1"/>
                </a:solidFill>
                <a:latin typeface="Avenir Next LT Pro Light"/>
              </a:rPr>
              <a:t>Analysis</a:t>
            </a:r>
            <a:endParaRPr lang="en-US" dirty="0">
              <a:ea typeface="Source Sans Pro"/>
            </a:endParaRP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CF8981AB-E6C8-27D3-D95B-EEBF579AF1B4}"/>
              </a:ext>
            </a:extLst>
          </p:cNvPr>
          <p:cNvSpPr txBox="1">
            <a:spLocks/>
          </p:cNvSpPr>
          <p:nvPr/>
        </p:nvSpPr>
        <p:spPr>
          <a:xfrm>
            <a:off x="453262" y="4729539"/>
            <a:ext cx="2743200" cy="23765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s-Latn-BA" sz="2000" b="1" dirty="0">
                <a:latin typeface="Avenir Next LT Pro Light"/>
                <a:ea typeface="+mn-lt"/>
                <a:cs typeface="+mn-lt"/>
              </a:rPr>
              <a:t>Target Audience</a:t>
            </a:r>
            <a:r>
              <a:rPr lang="bs-Latn-BA" sz="2000" dirty="0">
                <a:latin typeface="Avenir Next LT Pro Light"/>
                <a:ea typeface="+mn-lt"/>
                <a:cs typeface="+mn-lt"/>
              </a:rPr>
              <a:t>:</a:t>
            </a:r>
            <a:endParaRPr lang="en-US" sz="2000" dirty="0">
              <a:latin typeface="Avenir Next LT Pro Light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Elderly Users (65+)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Family Members (30-55)</a:t>
            </a:r>
          </a:p>
          <a:p>
            <a:pPr>
              <a:buFont typeface="Wingdings" panose="05000000000000000000" pitchFamily="2" charset="2"/>
              <a:buChar char="v"/>
            </a:pPr>
            <a:endParaRPr lang="bs-Latn-BA" sz="2400" b="1" dirty="0">
              <a:latin typeface="Avenir Next LT Pro Light"/>
              <a:ea typeface="+mn-lt"/>
              <a:cs typeface="+mn-lt"/>
            </a:endParaRPr>
          </a:p>
          <a:p>
            <a:pPr marL="0" indent="0">
              <a:buNone/>
            </a:pPr>
            <a:endParaRPr lang="bs-Latn-BA" sz="2400" dirty="0">
              <a:latin typeface="Avenir Next LT Pro Light"/>
              <a:ea typeface="Source Sans Pro"/>
            </a:endParaRPr>
          </a:p>
        </p:txBody>
      </p:sp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0414EA8-26EA-4154-6C2C-6A417FB0E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622" y="4573998"/>
            <a:ext cx="904876" cy="904876"/>
          </a:xfrm>
          <a:prstGeom prst="rect">
            <a:avLst/>
          </a:prstGeom>
        </p:spPr>
      </p:pic>
      <p:pic>
        <p:nvPicPr>
          <p:cNvPr id="20" name="Picture 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43D4B53-264E-6DBE-BA97-838E95ACA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445" y="5603182"/>
            <a:ext cx="599971" cy="599971"/>
          </a:xfrm>
          <a:prstGeom prst="rect">
            <a:avLst/>
          </a:prstGeom>
        </p:spPr>
      </p:pic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7270117-90D1-6A9A-6009-AC2D6E025B90}"/>
              </a:ext>
            </a:extLst>
          </p:cNvPr>
          <p:cNvSpPr txBox="1">
            <a:spLocks/>
          </p:cNvSpPr>
          <p:nvPr/>
        </p:nvSpPr>
        <p:spPr>
          <a:xfrm>
            <a:off x="566095" y="1085823"/>
            <a:ext cx="5329882" cy="2040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s-Latn-BA" sz="2000" b="1" dirty="0">
                <a:latin typeface="Avenir Next LT Pro Light"/>
                <a:ea typeface="+mn-lt"/>
                <a:cs typeface="+mn-lt"/>
              </a:rPr>
              <a:t>Market Analasys </a:t>
            </a:r>
            <a:r>
              <a:rPr lang="bs-Latn-BA" sz="2000" dirty="0">
                <a:latin typeface="Avenir Next LT Pro Light"/>
                <a:ea typeface="+mn-lt"/>
                <a:cs typeface="+mn-lt"/>
              </a:rPr>
              <a:t>shows these factors:</a:t>
            </a:r>
            <a:endParaRPr lang="en-US" sz="2000" dirty="0">
              <a:latin typeface="Avenir Next LT Pro Light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Growth of the Senior Care Market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Tehnological Advancments in Elderly Care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Dementia and Mental Health</a:t>
            </a:r>
          </a:p>
          <a:p>
            <a:pPr>
              <a:buFont typeface="Wingdings" panose="05000000000000000000" pitchFamily="2" charset="2"/>
              <a:buChar char="v"/>
            </a:pPr>
            <a:endParaRPr lang="bs-Latn-BA" sz="2400" b="1" dirty="0">
              <a:latin typeface="Avenir Next LT Pro Light"/>
              <a:ea typeface="+mn-lt"/>
              <a:cs typeface="+mn-lt"/>
            </a:endParaRPr>
          </a:p>
          <a:p>
            <a:pPr marL="0" indent="0">
              <a:buNone/>
            </a:pPr>
            <a:endParaRPr lang="bs-Latn-BA" sz="2400" dirty="0">
              <a:latin typeface="Avenir Next LT Pro Light"/>
              <a:ea typeface="Source Sans Pro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CAA99F-8E8D-8CDB-14CE-79C3DEE8FE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300" y="2693650"/>
            <a:ext cx="2820521" cy="188034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C40CA59C-D444-784A-A486-0C1156186BCC}"/>
              </a:ext>
            </a:extLst>
          </p:cNvPr>
          <p:cNvSpPr txBox="1">
            <a:spLocks/>
          </p:cNvSpPr>
          <p:nvPr/>
        </p:nvSpPr>
        <p:spPr>
          <a:xfrm>
            <a:off x="5981702" y="1030647"/>
            <a:ext cx="6279756" cy="2040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The</a:t>
            </a:r>
            <a:r>
              <a:rPr lang="bs-Latn-BA" sz="2000" b="1" dirty="0">
                <a:latin typeface="Avenir Next LT Pro Light"/>
                <a:ea typeface="+mn-lt"/>
                <a:cs typeface="+mn-lt"/>
              </a:rPr>
              <a:t> Market Trends </a:t>
            </a:r>
            <a:r>
              <a:rPr lang="bs-Latn-BA" sz="2000" dirty="0">
                <a:latin typeface="Avenir Next LT Pro Light"/>
                <a:ea typeface="+mn-lt"/>
                <a:cs typeface="+mn-lt"/>
              </a:rPr>
              <a:t>are:</a:t>
            </a:r>
            <a:endParaRPr lang="en-US" sz="2000" dirty="0">
              <a:latin typeface="Avenir Next LT Pro Light"/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AI Market booming (over 1.8 trillion in profit by 2030)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000" dirty="0">
                <a:latin typeface="Avenir Next LT Pro Light"/>
                <a:ea typeface="+mn-lt"/>
                <a:cs typeface="+mn-lt"/>
              </a:rPr>
              <a:t>Untaped sectors for expansion example: healthcare</a:t>
            </a:r>
          </a:p>
          <a:p>
            <a:pPr>
              <a:buFont typeface="Wingdings" panose="05000000000000000000" pitchFamily="2" charset="2"/>
              <a:buChar char="v"/>
            </a:pPr>
            <a:endParaRPr lang="bs-Latn-BA" sz="2400" b="1" dirty="0">
              <a:latin typeface="Avenir Next LT Pro Light"/>
              <a:ea typeface="+mn-lt"/>
              <a:cs typeface="+mn-lt"/>
            </a:endParaRPr>
          </a:p>
          <a:p>
            <a:pPr marL="0" indent="0">
              <a:buNone/>
            </a:pPr>
            <a:endParaRPr lang="bs-Latn-BA" sz="2400" dirty="0">
              <a:latin typeface="Avenir Next LT Pro Light"/>
              <a:ea typeface="Source Sans Pro"/>
            </a:endParaRPr>
          </a:p>
        </p:txBody>
      </p:sp>
      <p:pic>
        <p:nvPicPr>
          <p:cNvPr id="28" name="Picture 27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66FEF3AE-FB53-5AFC-0B10-F90168BE1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2298" y="2459433"/>
            <a:ext cx="4450514" cy="204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1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258CD-96A3-38AB-70FE-B7EB2CD6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EE766-E879-9681-38EC-7760D69DD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604" y="3919667"/>
            <a:ext cx="5266766" cy="21960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bs-Latn-BA" sz="2400" dirty="0">
                <a:latin typeface="Avenir Next LT Pro Light"/>
              </a:rPr>
              <a:t>The</a:t>
            </a:r>
            <a:r>
              <a:rPr lang="bs-Latn-BA" sz="2400" b="1" dirty="0">
                <a:latin typeface="Avenir Next LT Pro Light"/>
              </a:rPr>
              <a:t> Action Plan </a:t>
            </a:r>
            <a:r>
              <a:rPr lang="bs-Latn-BA" sz="2400" dirty="0">
                <a:latin typeface="Avenir Next LT Pro Light"/>
              </a:rPr>
              <a:t>(April 2025 – April 2026) includes: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</a:rPr>
              <a:t>Onboard 60 Health Institutions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</a:rPr>
              <a:t>215 Active Users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s-Latn-BA" sz="2400" dirty="0">
                <a:latin typeface="Avenir Next LT Pro Light"/>
              </a:rPr>
              <a:t>Platform Branding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71E45-780B-1CCC-AFA7-9DF2B5AD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7</a:t>
            </a:fld>
            <a:endParaRPr lang="en-US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DC517B3-6666-73FC-2D14-C173934002A6}"/>
              </a:ext>
            </a:extLst>
          </p:cNvPr>
          <p:cNvSpPr txBox="1">
            <a:spLocks/>
          </p:cNvSpPr>
          <p:nvPr/>
        </p:nvSpPr>
        <p:spPr>
          <a:xfrm>
            <a:off x="2593037" y="1182917"/>
            <a:ext cx="4047567" cy="31890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b="1" dirty="0">
                <a:latin typeface="Avenir Next LT Pro Light"/>
              </a:rPr>
              <a:t>Ads </a:t>
            </a:r>
            <a:r>
              <a:rPr lang="bs-Latn-BA" dirty="0">
                <a:latin typeface="Avenir Next LT Pro Light"/>
              </a:rPr>
              <a:t>targeting people age 35-55 on </a:t>
            </a:r>
            <a:r>
              <a:rPr lang="bs-Latn-BA" b="1" dirty="0">
                <a:latin typeface="Avenir Next LT Pro Light"/>
              </a:rPr>
              <a:t>facebook</a:t>
            </a:r>
            <a:r>
              <a:rPr lang="bs-Latn-BA" dirty="0">
                <a:latin typeface="Avenir Next LT Pro Light"/>
              </a:rPr>
              <a:t> with an extensive and early outreach to </a:t>
            </a:r>
            <a:r>
              <a:rPr lang="bs-Latn-BA" b="1" dirty="0">
                <a:latin typeface="Avenir Next LT Pro Light"/>
              </a:rPr>
              <a:t>health offices and nursing homes</a:t>
            </a:r>
          </a:p>
          <a:p>
            <a:pPr marL="0" indent="0">
              <a:buNone/>
            </a:pPr>
            <a:endParaRPr lang="bs-Latn-BA" b="1" dirty="0">
              <a:latin typeface="Avenir Next LT Pro Light"/>
            </a:endParaRPr>
          </a:p>
          <a:p>
            <a:pPr marL="0" indent="0">
              <a:buNone/>
            </a:pPr>
            <a:r>
              <a:rPr lang="bs-Latn-BA" dirty="0">
                <a:latin typeface="Avenir Next LT Pro Light"/>
              </a:rPr>
              <a:t>Nursing homes will be offered an enterprise plan for </a:t>
            </a:r>
            <a:r>
              <a:rPr lang="bs-Latn-BA" b="1" dirty="0">
                <a:latin typeface="Avenir Next LT Pro Light"/>
              </a:rPr>
              <a:t>$999.99 a month</a:t>
            </a:r>
            <a:r>
              <a:rPr lang="bs-Latn-BA" dirty="0">
                <a:latin typeface="Avenir Next LT Pro Light"/>
              </a:rPr>
              <a:t> for all of their users</a:t>
            </a:r>
            <a:endParaRPr lang="hr-BA" dirty="0">
              <a:latin typeface="Avenir Next LT Pro Light"/>
            </a:endParaRP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C55E079-550A-443B-27C7-0B98777E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27" y="720514"/>
            <a:ext cx="2330254" cy="233025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BB6636-DBFB-686B-B255-07254A11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796" y="165791"/>
            <a:ext cx="10134601" cy="9248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venir Next LT Pro Light"/>
              </a:rPr>
              <a:t>Description of implementation/ Launch strategies</a:t>
            </a:r>
            <a:endParaRPr lang="en-US" dirty="0">
              <a:ea typeface="Source Sans Pro"/>
            </a:endParaRP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4DF86AC-5149-E463-EF98-1A203C67E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434" y="1235292"/>
            <a:ext cx="2539682" cy="2539682"/>
          </a:xfrm>
          <a:prstGeom prst="rect">
            <a:avLst/>
          </a:prstGeom>
        </p:spPr>
      </p:pic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74DF794-3C41-AFC3-7151-261D4EBD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ED2639DB-DE7D-0AEB-7411-F8FCFF91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bs-Latn-BA" dirty="0"/>
              <a:t>Fakultet Infomracijskih Tehnologija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921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941C5-7F02-A614-3E29-F1236625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94A63-7A8F-9642-7E4E-AAAF4A01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FFC158-C859-9FF9-F2B8-C00176AE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796" y="165791"/>
            <a:ext cx="10134601" cy="924808"/>
          </a:xfrm>
        </p:spPr>
        <p:txBody>
          <a:bodyPr>
            <a:normAutofit/>
          </a:bodyPr>
          <a:lstStyle/>
          <a:p>
            <a:pPr algn="ctr"/>
            <a:r>
              <a:rPr lang="bs-Latn-BA" sz="3200" dirty="0">
                <a:solidFill>
                  <a:schemeClr val="tx1"/>
                </a:solidFill>
                <a:latin typeface="Avenir Next LT Pro Light"/>
              </a:rPr>
              <a:t>REVENUE SUMMARY OVER THREE YEARS</a:t>
            </a:r>
            <a:endParaRPr lang="en-US" sz="2400" dirty="0">
              <a:ea typeface="Source Sans Pro"/>
            </a:endParaRP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62F2C9-4B5E-0986-AF1E-DE98CA59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66197CD-3060-B095-727C-4AE6B9E2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bs-Latn-BA" dirty="0"/>
              <a:t>Fakultet Infomracijskih Tehnologija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08FC59-54D8-18C1-2E22-EB760DB7C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63922"/>
              </p:ext>
            </p:extLst>
          </p:nvPr>
        </p:nvGraphicFramePr>
        <p:xfrm>
          <a:off x="2376486" y="1228725"/>
          <a:ext cx="7439028" cy="4019551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859757">
                  <a:extLst>
                    <a:ext uri="{9D8B030D-6E8A-4147-A177-3AD203B41FA5}">
                      <a16:colId xmlns:a16="http://schemas.microsoft.com/office/drawing/2014/main" val="3276097775"/>
                    </a:ext>
                  </a:extLst>
                </a:gridCol>
                <a:gridCol w="1859757">
                  <a:extLst>
                    <a:ext uri="{9D8B030D-6E8A-4147-A177-3AD203B41FA5}">
                      <a16:colId xmlns:a16="http://schemas.microsoft.com/office/drawing/2014/main" val="3578566356"/>
                    </a:ext>
                  </a:extLst>
                </a:gridCol>
                <a:gridCol w="1859757">
                  <a:extLst>
                    <a:ext uri="{9D8B030D-6E8A-4147-A177-3AD203B41FA5}">
                      <a16:colId xmlns:a16="http://schemas.microsoft.com/office/drawing/2014/main" val="3308095063"/>
                    </a:ext>
                  </a:extLst>
                </a:gridCol>
                <a:gridCol w="1859757">
                  <a:extLst>
                    <a:ext uri="{9D8B030D-6E8A-4147-A177-3AD203B41FA5}">
                      <a16:colId xmlns:a16="http://schemas.microsoft.com/office/drawing/2014/main" val="4220548228"/>
                    </a:ext>
                  </a:extLst>
                </a:gridCol>
              </a:tblGrid>
              <a:tr h="44009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Sales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YearI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Year II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Year III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4336241"/>
                  </a:ext>
                </a:extLst>
              </a:tr>
              <a:tr h="44009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User Subscriptions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~$1,620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~$8,181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~$20,861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540220"/>
                  </a:ext>
                </a:extLst>
              </a:tr>
              <a:tr h="469436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dirty="0">
                          <a:effectLst/>
                        </a:rPr>
                        <a:t>Healthcare</a:t>
                      </a:r>
                      <a:r>
                        <a:rPr lang="bs-Latn-BA" sz="120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Inst. Subscriptions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~$44,000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~$112,200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~$286,110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643107"/>
                  </a:ext>
                </a:extLst>
              </a:tr>
              <a:tr h="44009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Total Sales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b="1">
                          <a:effectLst/>
                        </a:rPr>
                        <a:t>$45,620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b="1">
                          <a:effectLst/>
                        </a:rPr>
                        <a:t>$120,381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b="1" dirty="0">
                          <a:effectLst/>
                        </a:rPr>
                        <a:t>$</a:t>
                      </a:r>
                      <a:r>
                        <a:rPr lang="bs-Latn-BA" sz="1200" b="1" dirty="0">
                          <a:effectLst/>
                        </a:rPr>
                        <a:t>306</a:t>
                      </a:r>
                      <a:r>
                        <a:rPr lang="en-US" sz="1200" b="1" dirty="0">
                          <a:effectLst/>
                        </a:rPr>
                        <a:t>,</a:t>
                      </a:r>
                      <a:r>
                        <a:rPr lang="bs-Latn-BA" sz="1200" b="1" dirty="0">
                          <a:effectLst/>
                        </a:rPr>
                        <a:t>971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5735476"/>
                  </a:ext>
                </a:extLst>
              </a:tr>
              <a:tr h="440097">
                <a:tc gridSpan="4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603143"/>
                  </a:ext>
                </a:extLst>
              </a:tr>
              <a:tr h="44009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Production costs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Year 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Year II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Year II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2014391"/>
                  </a:ext>
                </a:extLst>
              </a:tr>
              <a:tr h="44009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User Subscriptions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~$25,000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~$65,000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~$100,000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4498520"/>
                  </a:ext>
                </a:extLst>
              </a:tr>
              <a:tr h="469436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Healthcare Inst. Subscriptions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7442214"/>
                  </a:ext>
                </a:extLst>
              </a:tr>
              <a:tr h="44009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Total Expenses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b="1">
                          <a:effectLst/>
                        </a:rPr>
                        <a:t>$25,000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b="1" dirty="0">
                          <a:effectLst/>
                        </a:rPr>
                        <a:t>$65,000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b="1" dirty="0">
                          <a:effectLst/>
                        </a:rPr>
                        <a:t>$100,000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9673389"/>
                  </a:ext>
                </a:extLst>
              </a:tr>
            </a:tbl>
          </a:graphicData>
        </a:graphic>
      </p:graphicFrame>
      <p:pic>
        <p:nvPicPr>
          <p:cNvPr id="14" name="Picture 13" descr="A stack of money and a coin&#10;&#10;AI-generated content may be incorrect.">
            <a:extLst>
              <a:ext uri="{FF2B5EF4-FFF2-40B4-BE49-F238E27FC236}">
                <a16:creationId xmlns:a16="http://schemas.microsoft.com/office/drawing/2014/main" id="{A170563D-6213-51B5-BB65-6D692AF6B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51006">
            <a:off x="9086850" y="3485995"/>
            <a:ext cx="3800815" cy="3800815"/>
          </a:xfrm>
          <a:prstGeom prst="rect">
            <a:avLst/>
          </a:prstGeom>
        </p:spPr>
      </p:pic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5281F219-767A-1377-B48E-227F5AD49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49" y="5709338"/>
            <a:ext cx="8524875" cy="65244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bs-Latn-BA" sz="2400" dirty="0">
                <a:latin typeface="Avenir Next LT Pro Light"/>
              </a:rPr>
              <a:t>Year One: +$20,620 | Year Two: +$55,381 | Year Three: +$206,971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223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E74B-E08F-8A11-C46C-019B8C22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D4CC9-F248-90E4-A1A6-BF28256A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8C261C-2CBA-3B9C-968C-27DAAE91F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796" y="165791"/>
            <a:ext cx="10134601" cy="924808"/>
          </a:xfrm>
        </p:spPr>
        <p:txBody>
          <a:bodyPr>
            <a:normAutofit/>
          </a:bodyPr>
          <a:lstStyle/>
          <a:p>
            <a:pPr algn="ctr"/>
            <a:r>
              <a:rPr lang="bs-Latn-BA" sz="3600" dirty="0">
                <a:solidFill>
                  <a:schemeClr val="tx1"/>
                </a:solidFill>
                <a:latin typeface="Avenir Next LT Pro Light"/>
              </a:rPr>
              <a:t>Company Structure</a:t>
            </a:r>
            <a:endParaRPr lang="en-US" dirty="0">
              <a:ea typeface="Source Sans Pro"/>
            </a:endParaRP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477DBAB4-5204-38D8-9F2D-03F16698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bs-Latn-BA" dirty="0"/>
              <a:t>10.04.2025</a:t>
            </a: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F598511E-9CCC-FB3F-6974-003E0096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bs-Latn-BA" dirty="0"/>
              <a:t>Fakultet Infomracijskih Tehnologija</a:t>
            </a:r>
            <a:endParaRPr lang="en-US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CFCBA11F-F7B2-7B03-B952-D91A96E9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824" y="1090599"/>
            <a:ext cx="8524875" cy="652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bs-Latn-BA" sz="2400" dirty="0">
                <a:latin typeface="Avenir Next LT Pro Light"/>
              </a:rPr>
              <a:t>The company will be structured:</a:t>
            </a:r>
            <a:endParaRPr lang="en-US" dirty="0"/>
          </a:p>
        </p:txBody>
      </p:sp>
      <p:pic>
        <p:nvPicPr>
          <p:cNvPr id="15" name="Picture 14" descr="A diagram of a company&#10;&#10;AI-generated content may be incorrect.">
            <a:extLst>
              <a:ext uri="{FF2B5EF4-FFF2-40B4-BE49-F238E27FC236}">
                <a16:creationId xmlns:a16="http://schemas.microsoft.com/office/drawing/2014/main" id="{172F2923-D190-BAFC-AB7C-571461BA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75" y="1203465"/>
            <a:ext cx="8197772" cy="515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6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028D-4C43-EB72-C2B6-943ABAF2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75B79-3762-C30F-FE4F-59748775C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90" y="639952"/>
            <a:ext cx="5456737" cy="594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bs-Latn-BA" sz="2400" dirty="0">
                <a:latin typeface="Avenir Next LT Pro Light"/>
              </a:rPr>
              <a:t>Income and expenditure projection:</a:t>
            </a:r>
            <a:endParaRPr lang="hr-BA" sz="2400" dirty="0">
              <a:latin typeface="Avenir Next LT Pro Light" panose="020B0304020202020204" pitchFamily="34" charset="-18"/>
            </a:endParaRPr>
          </a:p>
          <a:p>
            <a:pPr marL="0" indent="0">
              <a:buNone/>
            </a:pPr>
            <a:endParaRPr lang="hr-BA" sz="2400" dirty="0">
              <a:latin typeface="Avenir Next LT Pro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245CD-AC99-295A-3FA6-65BD0FF0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A06625-7AA2-1D9C-6EA9-9CD87007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903" y="-29730"/>
            <a:ext cx="10134601" cy="924808"/>
          </a:xfrm>
        </p:spPr>
        <p:txBody>
          <a:bodyPr>
            <a:normAutofit/>
          </a:bodyPr>
          <a:lstStyle/>
          <a:p>
            <a:r>
              <a:rPr lang="hr-BA" sz="3600" dirty="0">
                <a:solidFill>
                  <a:schemeClr val="tx1"/>
                </a:solidFill>
                <a:latin typeface="Avenir Next LT Pro Light" panose="020B0304020202020204" pitchFamily="34" charset="-18"/>
              </a:rPr>
              <a:t>Financial Plan</a:t>
            </a:r>
          </a:p>
        </p:txBody>
      </p:sp>
      <p:pic>
        <p:nvPicPr>
          <p:cNvPr id="3" name="Picture 2" descr="A person sitting on a chair with a computer&#10;&#10;AI-generated content may be incorrect.">
            <a:extLst>
              <a:ext uri="{FF2B5EF4-FFF2-40B4-BE49-F238E27FC236}">
                <a16:creationId xmlns:a16="http://schemas.microsoft.com/office/drawing/2014/main" id="{65E1230A-6B56-EBFC-305C-FCEAC1C82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33400" y="5448651"/>
            <a:ext cx="2743200" cy="2200835"/>
          </a:xfrm>
          <a:prstGeom prst="rect">
            <a:avLst/>
          </a:prstGeom>
        </p:spPr>
      </p:pic>
      <p:pic>
        <p:nvPicPr>
          <p:cNvPr id="4" name="Picture 3" descr="A group of people standing on a ladder and a plant with coins and dollar bills&#10;&#10;AI-generated content may be incorrect.">
            <a:extLst>
              <a:ext uri="{FF2B5EF4-FFF2-40B4-BE49-F238E27FC236}">
                <a16:creationId xmlns:a16="http://schemas.microsoft.com/office/drawing/2014/main" id="{C2C2D610-DEEC-1D19-137C-9A94B4D82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31709" y="-25402"/>
            <a:ext cx="2696481" cy="18620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540A9-E0A7-B350-3B70-41B309C1D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36" y="5275941"/>
            <a:ext cx="1124107" cy="628738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CCD0918-A383-D1D9-D70F-CCD7D40E1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02850"/>
              </p:ext>
            </p:extLst>
          </p:nvPr>
        </p:nvGraphicFramePr>
        <p:xfrm>
          <a:off x="74428" y="970822"/>
          <a:ext cx="6748620" cy="482961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686794">
                  <a:extLst>
                    <a:ext uri="{9D8B030D-6E8A-4147-A177-3AD203B41FA5}">
                      <a16:colId xmlns:a16="http://schemas.microsoft.com/office/drawing/2014/main" val="4012507704"/>
                    </a:ext>
                  </a:extLst>
                </a:gridCol>
                <a:gridCol w="1686794">
                  <a:extLst>
                    <a:ext uri="{9D8B030D-6E8A-4147-A177-3AD203B41FA5}">
                      <a16:colId xmlns:a16="http://schemas.microsoft.com/office/drawing/2014/main" val="997825627"/>
                    </a:ext>
                  </a:extLst>
                </a:gridCol>
                <a:gridCol w="1687516">
                  <a:extLst>
                    <a:ext uri="{9D8B030D-6E8A-4147-A177-3AD203B41FA5}">
                      <a16:colId xmlns:a16="http://schemas.microsoft.com/office/drawing/2014/main" val="3088893503"/>
                    </a:ext>
                  </a:extLst>
                </a:gridCol>
                <a:gridCol w="1687516">
                  <a:extLst>
                    <a:ext uri="{9D8B030D-6E8A-4147-A177-3AD203B41FA5}">
                      <a16:colId xmlns:a16="http://schemas.microsoft.com/office/drawing/2014/main" val="3548804906"/>
                    </a:ext>
                  </a:extLst>
                </a:gridCol>
              </a:tblGrid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 u="sng" dirty="0">
                          <a:effectLst/>
                        </a:rPr>
                        <a:t>Year I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 u="sng">
                          <a:effectLst/>
                        </a:rPr>
                        <a:t>Year II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 u="sng">
                          <a:effectLst/>
                        </a:rPr>
                        <a:t>Year III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2529310589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Fiscal value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$45,620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$120,381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$306,971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2923364459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Total COGS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$25,000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$65,000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$100,000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246543600"/>
                  </a:ext>
                </a:extLst>
              </a:tr>
              <a:tr h="22212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Gross margin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$20,620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$55,381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$206,971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657960542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Gross margin 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45.2%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46%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67.5%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322192740"/>
                  </a:ext>
                </a:extLst>
              </a:tr>
              <a:tr h="192448">
                <a:tc grid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135556748"/>
                  </a:ext>
                </a:extLst>
              </a:tr>
              <a:tr h="192448">
                <a:tc grid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 u="sng">
                          <a:effectLst/>
                        </a:rPr>
                        <a:t>OPEX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3865548295"/>
                  </a:ext>
                </a:extLst>
              </a:tr>
              <a:tr h="32669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Marketing and branding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 dirty="0">
                          <a:effectLst/>
                        </a:rPr>
                        <a:t>$9,500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43729276"/>
                  </a:ext>
                </a:extLst>
              </a:tr>
              <a:tr h="81673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Operating expenses (salaries, legal and accounting services)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$7,000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$30,000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$50,000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964847513"/>
                  </a:ext>
                </a:extLst>
              </a:tr>
              <a:tr h="384895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Other and unforeseen costs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$3,000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389215653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 u="sng">
                          <a:effectLst/>
                        </a:rPr>
                        <a:t>Total expenses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$19,500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$45,000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$75,000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843594358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EBITDA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$1,120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$10,381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$125,971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3222425598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EBITDA 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5.74%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8.7%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41.1%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556789541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Income / profit tax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$120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$381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$5000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911038309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Interest expenses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593025720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Depreciation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2814521819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Impairment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376113929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Net profit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$120,971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1761773271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Net profit 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2.2%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8.3%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40%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250782580"/>
                  </a:ext>
                </a:extLst>
              </a:tr>
              <a:tr h="192448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CAPEX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>
                          <a:effectLst/>
                        </a:rPr>
                        <a:t>$10,000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100" dirty="0">
                          <a:effectLst/>
                        </a:rPr>
                        <a:t>$120,971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7530" marR="67530" marT="0" marB="0"/>
                </a:tc>
                <a:extLst>
                  <a:ext uri="{0D108BD9-81ED-4DB2-BD59-A6C34878D82A}">
                    <a16:rowId xmlns:a16="http://schemas.microsoft.com/office/drawing/2014/main" val="3016178843"/>
                  </a:ext>
                </a:extLst>
              </a:tr>
            </a:tbl>
          </a:graphicData>
        </a:graphic>
      </p:graphicFrame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8FF5B443-3FF8-3720-F039-F29A41A0F371}"/>
              </a:ext>
            </a:extLst>
          </p:cNvPr>
          <p:cNvSpPr txBox="1">
            <a:spLocks/>
          </p:cNvSpPr>
          <p:nvPr/>
        </p:nvSpPr>
        <p:spPr>
          <a:xfrm>
            <a:off x="8388299" y="1976726"/>
            <a:ext cx="5456737" cy="594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bs-Latn-BA" sz="2400" dirty="0">
                <a:latin typeface="Avenir Next LT Pro Light"/>
              </a:rPr>
              <a:t>Start up budget:</a:t>
            </a:r>
            <a:endParaRPr lang="hr-BA" sz="2400" dirty="0">
              <a:latin typeface="Avenir Next LT Pro Light" panose="020B0304020202020204" pitchFamily="34" charset="-1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hr-BA" sz="2400" dirty="0">
              <a:latin typeface="Avenir Next LT Pro Light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B23B6C2-D175-FD16-3BAD-B84263366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772602"/>
              </p:ext>
            </p:extLst>
          </p:nvPr>
        </p:nvGraphicFramePr>
        <p:xfrm>
          <a:off x="7814820" y="2394185"/>
          <a:ext cx="6109488" cy="3785079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54744">
                  <a:extLst>
                    <a:ext uri="{9D8B030D-6E8A-4147-A177-3AD203B41FA5}">
                      <a16:colId xmlns:a16="http://schemas.microsoft.com/office/drawing/2014/main" val="4266376422"/>
                    </a:ext>
                  </a:extLst>
                </a:gridCol>
                <a:gridCol w="3054744">
                  <a:extLst>
                    <a:ext uri="{9D8B030D-6E8A-4147-A177-3AD203B41FA5}">
                      <a16:colId xmlns:a16="http://schemas.microsoft.com/office/drawing/2014/main" val="1791708307"/>
                    </a:ext>
                  </a:extLst>
                </a:gridCol>
              </a:tblGrid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Needs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$49,500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8346403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6446612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Expenses / first year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731098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Software Development &amp; Infrastructure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$10.000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1869636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Marketing &amp; Branding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$9.500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4311700"/>
                  </a:ext>
                </a:extLst>
              </a:tr>
              <a:tr h="5823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Operational Costs (Salaries, Legal, Accounting)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2806577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Cloud Services &amp; Maintenance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$8,000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3143314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Customer Support &amp; Administration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$7,000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244261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Miscellaneous &amp; Contingency Fund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$5,000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361859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Total Start-up Expenses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$49,500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0981751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0902045"/>
                  </a:ext>
                </a:extLst>
              </a:tr>
              <a:tr h="29116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Total needs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 dirty="0">
                          <a:effectLst/>
                        </a:rPr>
                        <a:t>$49,500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278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59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F4CA-076F-3E8E-6E32-528733BC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B32C6-BD1C-136A-5954-AF27E6A2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1591F9-D9C8-A057-7F79-168DD427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82" y="2519335"/>
            <a:ext cx="5038666" cy="1426500"/>
          </a:xfrm>
        </p:spPr>
        <p:txBody>
          <a:bodyPr>
            <a:noAutofit/>
          </a:bodyPr>
          <a:lstStyle/>
          <a:p>
            <a:r>
              <a:rPr lang="hr-BA" sz="6000" dirty="0">
                <a:solidFill>
                  <a:schemeClr val="tx1"/>
                </a:solidFill>
                <a:latin typeface="Avenir Next LT Pro Light" panose="020B0304020202020204" pitchFamily="34" charset="-18"/>
              </a:rPr>
              <a:t>THANK YOU !</a:t>
            </a:r>
          </a:p>
        </p:txBody>
      </p:sp>
      <p:pic>
        <p:nvPicPr>
          <p:cNvPr id="2" name="Graphic 1" descr="Old man using cane">
            <a:extLst>
              <a:ext uri="{FF2B5EF4-FFF2-40B4-BE49-F238E27FC236}">
                <a16:creationId xmlns:a16="http://schemas.microsoft.com/office/drawing/2014/main" id="{811A6D46-3100-DBF9-E2B8-82948B72E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83" y="2253992"/>
            <a:ext cx="21717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9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4">
      <a:dk1>
        <a:srgbClr val="1E1E1E"/>
      </a:dk1>
      <a:lt1>
        <a:sysClr val="window" lastClr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0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M Deck_tm12041065_Win32_LW_v2.potx" id="{50D3F641-2B59-4E25-9440-7A006AB5DE4F}" vid="{A6D17500-6421-4BD4-89D5-25B2E6BFFA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612839-5FA9-4715-8A7D-7F95D097B1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66E941-6182-4A32-B603-DDB09E5F071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3FFC980-8EEC-4CFC-96C7-CEB6F5CA8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STEM pitch deck</Template>
  <TotalTime>332</TotalTime>
  <Words>706</Words>
  <Application>Microsoft Office PowerPoint</Application>
  <PresentationFormat>Widescreen</PresentationFormat>
  <Paragraphs>246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Avenir Next LT Pro Light</vt:lpstr>
      <vt:lpstr>Calibri</vt:lpstr>
      <vt:lpstr>Source Sans Pro</vt:lpstr>
      <vt:lpstr>Verdana</vt:lpstr>
      <vt:lpstr>Wingdings</vt:lpstr>
      <vt:lpstr>Office Theme</vt:lpstr>
      <vt:lpstr>PowerPoint Presentation</vt:lpstr>
      <vt:lpstr>Context</vt:lpstr>
      <vt:lpstr>Description of the Business Idea</vt:lpstr>
      <vt:lpstr>Description of Services</vt:lpstr>
      <vt:lpstr>PowerPoint Presentation</vt:lpstr>
      <vt:lpstr>Market Analysis</vt:lpstr>
      <vt:lpstr>Description of implementation/ Launch strategies</vt:lpstr>
      <vt:lpstr>REVENUE SUMMARY OVER THREE YEARS</vt:lpstr>
      <vt:lpstr>Company Structure</vt:lpstr>
      <vt:lpstr>Financial Plan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Amna Hodžić</dc:creator>
  <cp:lastModifiedBy>Berun Agić</cp:lastModifiedBy>
  <cp:revision>739</cp:revision>
  <dcterms:created xsi:type="dcterms:W3CDTF">2025-01-09T12:31:45Z</dcterms:created>
  <dcterms:modified xsi:type="dcterms:W3CDTF">2025-04-06T22:20:50Z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